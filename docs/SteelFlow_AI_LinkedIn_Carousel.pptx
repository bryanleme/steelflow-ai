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df4c0470b14b52" /><Relationship Type="http://schemas.openxmlformats.org/officeDocument/2006/relationships/extended-properties" Target="/docProps/app.xml" Id="R1f2a559079c44d57" /><Relationship Type="http://schemas.openxmlformats.org/officeDocument/2006/relationships/officeDocument" Target="/ppt/presentation.xml" Id="R5d695a12b60649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e7d0f5fc874eb5"/>
  </p:sldMasterIdLst>
  <p:notesMasterIdLst>
    <p:notesMasterId xmlns:r="http://schemas.openxmlformats.org/officeDocument/2006/relationships" r:id="R8ef81704d08f48aa"/>
  </p:notesMasterIdLst>
  <p:sldIdLst>
    <p:sldId xmlns:r="http://schemas.openxmlformats.org/officeDocument/2006/relationships" id="256" r:id="R551c72f710124c2f"/>
    <p:sldId xmlns:r="http://schemas.openxmlformats.org/officeDocument/2006/relationships" id="257" r:id="Rc43c175d650f4efb"/>
    <p:sldId xmlns:r="http://schemas.openxmlformats.org/officeDocument/2006/relationships" id="258" r:id="Rd2c5971a14484827"/>
  </p:sldIdLst>
  <p:sldSz cx="10287000" cy="128587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b6952be3e545f4" /><Relationship Type="http://schemas.openxmlformats.org/officeDocument/2006/relationships/slideMaster" Target="/ppt/slideMasters/slideMaster1.xml" Id="R26e7d0f5fc874eb5" /><Relationship Type="http://schemas.openxmlformats.org/officeDocument/2006/relationships/notesMaster" Target="/ppt/notesMasters/notesMaster1.xml" Id="R8ef81704d08f48aa" /><Relationship Type="http://schemas.openxmlformats.org/officeDocument/2006/relationships/presProps" Target="/ppt/presProps.xml" Id="R2c64379b2ca64894" /><Relationship Type="http://schemas.openxmlformats.org/officeDocument/2006/relationships/tableStyles" Target="/ppt/tableStyles.xml" Id="Rde239ba817cd4c02" /><Relationship Type="http://schemas.openxmlformats.org/officeDocument/2006/relationships/slide" Target="/ppt/slides/slide1.xml" Id="R551c72f710124c2f" /><Relationship Type="http://schemas.openxmlformats.org/officeDocument/2006/relationships/slide" Target="/ppt/slides/slide2.xml" Id="Rc43c175d650f4efb" /><Relationship Type="http://schemas.openxmlformats.org/officeDocument/2006/relationships/slide" Target="/ppt/slides/slide3.xml" Id="Rd2c5971a144848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0f6cbd035245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751a0094a24b70" /><Relationship Type="http://schemas.openxmlformats.org/officeDocument/2006/relationships/notesMaster" Target="/ppt/notesMasters/notesMaster1.xml" Id="R7d7f6621ffb44e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782fdd3ec04a7a" /><Relationship Type="http://schemas.openxmlformats.org/officeDocument/2006/relationships/notesMaster" Target="/ppt/notesMasters/notesMaster1.xml" Id="R87fe3cb4bfe8416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d0fbf2ec284bed" /><Relationship Type="http://schemas.openxmlformats.org/officeDocument/2006/relationships/notesMaster" Target="/ppt/notesMasters/notesMaster1.xml" Id="R6d05db52a40f4b9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docs/images/phase7/executive-overview.png</a:t>
            </a:r>
          </a:p>
          <a:p xmlns:a="http://schemas.openxmlformats.org/drawingml/2006/main">
            <a:r>
              <a:t>- docs/CASE_STUDY.md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artifacts/samples/phase_6_optimization_summaries.json</a:t>
            </a:r>
          </a:p>
          <a:p xmlns:a="http://schemas.openxmlformats.org/drawingml/2006/main">
            <a:r>
              <a:t>- docs/images/phase7/scenario-lab.png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docs/CASE_STUDY.md</a:t>
            </a:r>
          </a:p>
          <a:p xmlns:a="http://schemas.openxmlformats.org/drawingml/2006/main">
            <a:r>
              <a:t>- https://github.com/bryanleme/steelFlow-ai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ba2d1a0ee3434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5d158c84284ad6" /><Relationship Type="http://schemas.openxmlformats.org/officeDocument/2006/relationships/slideLayout" Target="/ppt/slideLayouts/slideLayout1.xml" Id="Ra234896f68254ed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34896f68254ed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d187e26e2d4e8e" /><Relationship Type="http://schemas.openxmlformats.org/officeDocument/2006/relationships/image" Target="/ppt/media/image.png" Id="R59877cda60dd45ce" /><Relationship Type="http://schemas.openxmlformats.org/officeDocument/2006/relationships/notesSlide" Target="/ppt/notesSlides/notesSlide1.xml" Id="R4c1d49a82a1a456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9ea29be02641ff" /><Relationship Type="http://schemas.openxmlformats.org/officeDocument/2006/relationships/image" Target="/ppt/media/image2.png" Id="Ra67721ec89e84179" /><Relationship Type="http://schemas.openxmlformats.org/officeDocument/2006/relationships/notesSlide" Target="/ppt/notesSlides/notesSlide2.xml" Id="Rfaa92d8b8d544f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33822e485a45a2" /><Relationship Type="http://schemas.openxmlformats.org/officeDocument/2006/relationships/notesSlide" Target="/ppt/notesSlides/notesSlide3.xml" Id="R75b05ce24a6a41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0C465B4E-C8B9-4601-8397-4D4788D2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CDB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CDBF"/>
                </a:solidFill>
                <a:latin typeface="Arial"/>
                <a:ea typeface="Arial"/>
                <a:cs typeface="Arial"/>
              </a:rPr>
              <a:t>O PROBLEMA QUE EU VI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F3FA4D4-4A83-49F2-BA32-44FE8D80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8915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SteelFlow AI</a:t>
            </a:r>
          </a:p>
        </p:txBody>
      </p:sp>
      <p:sp>
        <p:nvSpPr>
          <p:cNvPr id="3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60C40F44-D399-42CC-8C5C-48B6BD22C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8915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Havia dados.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Faltava testar hipóteses.</a:t>
            </a:r>
          </a:p>
        </p:txBody>
      </p:sp>
      <p:sp>
        <p:nvSpPr>
          <p:cNvPr id="4" name="cover-body">
            <a:extLst xmlns:a="http://schemas.openxmlformats.org/drawingml/2006/main">
              <a:ext uri="{FF2B5EF4-FFF2-40B4-BE49-F238E27FC236}">
                <a16:creationId xmlns:a16="http://schemas.microsoft.com/office/drawing/2014/main" id="{27726A53-2ADF-4D3C-B1C7-CAB3F014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8382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B7CAD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7CAD8"/>
                </a:solidFill>
                <a:latin typeface="Arial"/>
                <a:ea typeface="Arial"/>
                <a:cs typeface="Arial"/>
              </a:rPr>
              <a:t>Quando os defeitos apareciam, os parâmetros eram ajustados na tentativa e erro.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877cda60dd45ce"/>
          <a:srcRect xmlns:a="http://schemas.openxmlformats.org/drawingml/2006/main" l="0" t="6553" r="0" b="65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5505450"/>
            <a:ext cx="8915400" cy="5810250"/>
          </a:xfrm>
          <a:prstGeom xmlns:a="http://schemas.openxmlformats.org/drawingml/2006/main" prst="roundRect">
            <a:avLst>
              <a:gd name="adj" fmla="val 1967"/>
            </a:avLst>
          </a:prstGeom>
        </p:spPr>
      </p:pic>
      <p:sp>
        <p:nvSpPr>
          <p:cNvPr id="6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1F88761A-5065-4A5E-995C-2E01823F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39550"/>
            <a:ext cx="891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CDB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0CDBF"/>
                </a:solidFill>
                <a:latin typeface="Arial"/>
                <a:ea typeface="Arial"/>
                <a:cs typeface="Arial"/>
              </a:rPr>
              <a:t>PROTÓTIPO OFFLINE · DADOS 100% SINTÉTICOS</a:t>
            </a:r>
          </a:p>
        </p:txBody>
      </p:sp>
      <p:sp>
        <p:nvSpPr>
          <p:cNvPr id="7" name="cover-page">
            <a:extLst xmlns:a="http://schemas.openxmlformats.org/drawingml/2006/main">
              <a:ext uri="{FF2B5EF4-FFF2-40B4-BE49-F238E27FC236}">
                <a16:creationId xmlns:a16="http://schemas.microsoft.com/office/drawing/2014/main" id="{144107F0-0DDF-4C51-A2BB-C6D9A75C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211050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8296A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8296A5"/>
                </a:solidFill>
                <a:latin typeface="Arial"/>
                <a:ea typeface="Arial"/>
                <a:cs typeface="Arial"/>
              </a:rPr>
              <a:t>01/03</a:t>
            </a:r>
          </a:p>
        </p:txBody>
      </p:sp>
    </p:spTree>
    <p:extLst>
      <p:ext uri="{BB962C8B-B14F-4D97-AF65-F5344CB8AC3E}">
        <p14:creationId xmlns:p14="http://schemas.microsoft.com/office/powerpoint/2010/main" val="16627004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kicker-7">
            <a:extLst xmlns:a="http://schemas.openxmlformats.org/drawingml/2006/main">
              <a:ext uri="{FF2B5EF4-FFF2-40B4-BE49-F238E27FC236}">
                <a16:creationId xmlns:a16="http://schemas.microsoft.com/office/drawing/2014/main" id="{7DD2BC6F-D214-4CBA-88EC-599B1C28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 PROPOSTA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6A092EF0-99DD-4B9B-AA19-12622A4E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3875"/>
            <a:ext cx="895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360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B63F41E9-DCD1-4F71-9BF9-B1341380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915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Testar hipóteses antes de ajustar</a:t>
            </a:r>
          </a:p>
        </p:txBody>
      </p:sp>
      <p:sp>
        <p:nvSpPr>
          <p:cNvPr id="4" name="subtitle-7">
            <a:extLst xmlns:a="http://schemas.openxmlformats.org/drawingml/2006/main">
              <a:ext uri="{FF2B5EF4-FFF2-40B4-BE49-F238E27FC236}">
                <a16:creationId xmlns:a16="http://schemas.microsoft.com/office/drawing/2014/main" id="{301F72D8-C84C-47AE-B5A3-54F74CA2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8915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Compare parâmetros e veja probabilidades, faixas e limites.</a:t>
            </a:r>
          </a:p>
        </p:txBody>
      </p:sp>
      <p:cxnSp>
        <p:nvCxnSpPr>
          <p:cNvPr id="81" name="header-rule-7"/>
          <p:cNvCxnSpPr/>
          <p:nvPr/>
        </p:nvCxnSpPr>
        <p:spPr>
          <a:xfrm xmlns:a="http://schemas.openxmlformats.org/drawingml/2006/main">
            <a:off x="685800" y="299085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6" name="scenario-stat-0">
            <a:extLst xmlns:a="http://schemas.openxmlformats.org/drawingml/2006/main">
              <a:ext uri="{FF2B5EF4-FFF2-40B4-BE49-F238E27FC236}">
                <a16:creationId xmlns:a16="http://schemas.microsoft.com/office/drawing/2014/main" id="{3874855A-F37C-4BE5-91CD-BFB684E4A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scenario-label-0">
            <a:extLst xmlns:a="http://schemas.openxmlformats.org/drawingml/2006/main">
              <a:ext uri="{FF2B5EF4-FFF2-40B4-BE49-F238E27FC236}">
                <a16:creationId xmlns:a16="http://schemas.microsoft.com/office/drawing/2014/main" id="{4B60A1AD-6086-4D18-AA3A-BF02DED9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cenários publicados</a:t>
            </a:r>
          </a:p>
        </p:txBody>
      </p:sp>
      <p:sp>
        <p:nvSpPr>
          <p:cNvPr id="8" name="scenario-stat-1">
            <a:extLst xmlns:a="http://schemas.openxmlformats.org/drawingml/2006/main">
              <a:ext uri="{FF2B5EF4-FFF2-40B4-BE49-F238E27FC236}">
                <a16:creationId xmlns:a16="http://schemas.microsoft.com/office/drawing/2014/main" id="{5D22E322-4953-4C2D-91E9-4402904D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42900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9" name="scenario-label-1">
            <a:extLst xmlns:a="http://schemas.openxmlformats.org/drawingml/2006/main">
              <a:ext uri="{FF2B5EF4-FFF2-40B4-BE49-F238E27FC236}">
                <a16:creationId xmlns:a16="http://schemas.microsoft.com/office/drawing/2014/main" id="{E033F261-4F50-4440-B9EC-5106D37A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171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restrições obrigatórias</a:t>
            </a:r>
          </a:p>
        </p:txBody>
      </p:sp>
      <p:sp>
        <p:nvSpPr>
          <p:cNvPr id="10" name="scenario-stat-2">
            <a:extLst xmlns:a="http://schemas.openxmlformats.org/drawingml/2006/main">
              <a:ext uri="{FF2B5EF4-FFF2-40B4-BE49-F238E27FC236}">
                <a16:creationId xmlns:a16="http://schemas.microsoft.com/office/drawing/2014/main" id="{7DD40CCC-8CAC-4B1A-A91B-89AD34FD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42900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55B6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E55B68"/>
                </a:solidFill>
                <a:latin typeface="Arial"/>
                <a:ea typeface="Arial"/>
                <a:cs typeface="Arial"/>
              </a:rPr>
              <a:t>3/3</a:t>
            </a:r>
          </a:p>
        </p:txBody>
      </p:sp>
      <p:sp>
        <p:nvSpPr>
          <p:cNvPr id="11" name="scenario-label-2">
            <a:extLst xmlns:a="http://schemas.openxmlformats.org/drawingml/2006/main">
              <a:ext uri="{FF2B5EF4-FFF2-40B4-BE49-F238E27FC236}">
                <a16:creationId xmlns:a16="http://schemas.microsoft.com/office/drawing/2014/main" id="{A76B89E4-D43B-41CE-8CB1-6E6DA87F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1719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fora do histórico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recusadas</a:t>
            </a:r>
          </a:p>
        </p:txBody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721ec89e84179"/>
          <a:srcRect xmlns:a="http://schemas.openxmlformats.org/drawingml/2006/main" l="0" t="10114" r="0" b="101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5219700"/>
            <a:ext cx="8915400" cy="5334000"/>
          </a:xfrm>
          <a:prstGeom xmlns:a="http://schemas.openxmlformats.org/drawingml/2006/main" prst="roundRect">
            <a:avLst>
              <a:gd name="adj" fmla="val 2143"/>
            </a:avLst>
          </a:prstGeom>
        </p:spPr>
      </p:pic>
      <p:sp>
        <p:nvSpPr>
          <p:cNvPr id="13" name="scenario-close">
            <a:extLst xmlns:a="http://schemas.openxmlformats.org/drawingml/2006/main">
              <a:ext uri="{FF2B5EF4-FFF2-40B4-BE49-F238E27FC236}">
                <a16:creationId xmlns:a16="http://schemas.microsoft.com/office/drawing/2014/main" id="{77D68B23-F225-4FB9-AD55-5D8FE637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0"/>
            <a:ext cx="8915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Probabilidades + P10/P50/P90 + revisão humana.</a:t>
            </a:r>
          </a:p>
        </p:txBody>
      </p:sp>
      <p:cxnSp>
        <p:nvCxnSpPr>
          <p:cNvPr id="90" name="footer-rule-7"/>
          <p:cNvCxnSpPr/>
          <p:nvPr/>
        </p:nvCxnSpPr>
        <p:spPr>
          <a:xfrm xmlns:a="http://schemas.openxmlformats.org/drawingml/2006/main">
            <a:off x="685800" y="12039600"/>
            <a:ext cx="89154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CC4CC"/>
            </a:solidFill>
            <a:prstDash val="solid"/>
          </a:ln>
        </p:spPr>
      </p:cxnSp>
      <p:sp>
        <p:nvSpPr>
          <p:cNvPr id="15" name="footer-7">
            <a:extLst xmlns:a="http://schemas.openxmlformats.org/drawingml/2006/main">
              <a:ext uri="{FF2B5EF4-FFF2-40B4-BE49-F238E27FC236}">
                <a16:creationId xmlns:a16="http://schemas.microsoft.com/office/drawing/2014/main" id="{879FB160-5E7C-4A0A-BE16-8BA84408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110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100% sintético · sem controle de máquina</a:t>
            </a:r>
          </a:p>
        </p:txBody>
      </p:sp>
      <p:sp>
        <p:nvSpPr>
          <p:cNvPr id="16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6CA91ED8-7E0E-433D-9AFA-55771DA2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22110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2/3</a:t>
            </a:r>
          </a:p>
        </p:txBody>
      </p:sp>
    </p:spTree>
    <p:extLst>
      <p:ext uri="{BB962C8B-B14F-4D97-AF65-F5344CB8AC3E}">
        <p14:creationId xmlns:p14="http://schemas.microsoft.com/office/powerpoint/2010/main" val="6798120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4A29BF44-3BDA-4C78-9CBD-C6046E39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8915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STEELFLOW AI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584C9D75-4C20-4B03-ABCF-158C3E28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89154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Da tentativa e erro</a:t>
            </a:r>
          </a:p>
          <a:p xmlns:a="http://schemas.openxmlformats.org/drawingml/2006/main">
            <a:pPr algn="l">
              <a:buNone/>
              <a:defRPr sz="49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ao teste de hipóteses.</a:t>
            </a:r>
          </a:p>
        </p:txBody>
      </p:sp>
      <p:sp>
        <p:nvSpPr>
          <p:cNvPr id="3" name="close-body">
            <a:extLst xmlns:a="http://schemas.openxmlformats.org/drawingml/2006/main">
              <a:ext uri="{FF2B5EF4-FFF2-40B4-BE49-F238E27FC236}">
                <a16:creationId xmlns:a16="http://schemas.microsoft.com/office/drawing/2014/main" id="{B4D2B44C-B7F8-4096-840E-D7E4AEEF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819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O sistema não substitui o especialista. Ele organiza evidências para comparar cenários antes de agir.</a:t>
            </a:r>
          </a:p>
        </p:txBody>
      </p:sp>
      <p:cxnSp>
        <p:nvCxnSpPr>
          <p:cNvPr id="29" name="close-accent"/>
          <p:cNvCxnSpPr/>
          <p:nvPr/>
        </p:nvCxnSpPr>
        <p:spPr>
          <a:xfrm xmlns:a="http://schemas.openxmlformats.org/drawingml/2006/main">
            <a:off x="685800" y="6429375"/>
            <a:ext cx="28575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20CDBF"/>
            </a:solidFill>
            <a:prstDash val="solid"/>
          </a:ln>
        </p:spPr>
      </p:cxnSp>
      <p:sp>
        <p:nvSpPr>
          <p:cNvPr id="5" name="close-url-label">
            <a:extLst xmlns:a="http://schemas.openxmlformats.org/drawingml/2006/main">
              <a:ext uri="{FF2B5EF4-FFF2-40B4-BE49-F238E27FC236}">
                <a16:creationId xmlns:a16="http://schemas.microsoft.com/office/drawing/2014/main" id="{D3A57EAB-876A-4CEA-ABE5-5D9BE11E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0"/>
            <a:ext cx="891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CÓDIGO, DOCUMENTAÇÃO E DEMO</a:t>
            </a:r>
          </a:p>
        </p:txBody>
      </p:sp>
      <p:sp>
        <p:nvSpPr>
          <p:cNvPr id="6" name="close-url">
            <a:extLst xmlns:a="http://schemas.openxmlformats.org/drawingml/2006/main">
              <a:ext uri="{FF2B5EF4-FFF2-40B4-BE49-F238E27FC236}">
                <a16:creationId xmlns:a16="http://schemas.microsoft.com/office/drawing/2014/main" id="{94A5A874-2061-4322-A504-FA6CDFB4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29550"/>
            <a:ext cx="891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github.com/bryanleme/steelFlow-ai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8170760B-0AB7-4DE6-98EE-69BF5979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667875"/>
            <a:ext cx="857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Que parâmetro você testaria primeiro se pudesse comparar o resultado antes do ajuste?</a:t>
            </a:r>
          </a:p>
        </p:txBody>
      </p:sp>
      <p:sp>
        <p:nvSpPr>
          <p:cNvPr id="8" name="close-scope">
            <a:extLst xmlns:a="http://schemas.openxmlformats.org/drawingml/2006/main">
              <a:ext uri="{FF2B5EF4-FFF2-40B4-BE49-F238E27FC236}">
                <a16:creationId xmlns:a16="http://schemas.microsoft.com/office/drawing/2014/main" id="{44E43D55-E684-4397-9217-42A4BAE5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68125"/>
            <a:ext cx="891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7111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7111C"/>
                </a:solidFill>
                <a:latin typeface="Arial"/>
                <a:ea typeface="Arial"/>
                <a:cs typeface="Arial"/>
              </a:rPr>
              <a:t>100% sintético · sem controle de máquina · não demonstra causalidade industrial</a:t>
            </a:r>
          </a:p>
        </p:txBody>
      </p:sp>
      <p:sp>
        <p:nvSpPr>
          <p:cNvPr id="9" name="close-page">
            <a:extLst xmlns:a="http://schemas.openxmlformats.org/drawingml/2006/main">
              <a:ext uri="{FF2B5EF4-FFF2-40B4-BE49-F238E27FC236}">
                <a16:creationId xmlns:a16="http://schemas.microsoft.com/office/drawing/2014/main" id="{743BA035-DA5C-42C6-9464-2A791F3A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2211050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360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06D"/>
                </a:solidFill>
                <a:latin typeface="Arial"/>
                <a:ea typeface="Arial"/>
                <a:cs typeface="Arial"/>
              </a:rPr>
              <a:t>3/3</a:t>
            </a:r>
          </a:p>
        </p:txBody>
      </p:sp>
    </p:spTree>
    <p:extLst>
      <p:ext uri="{BB962C8B-B14F-4D97-AF65-F5344CB8AC3E}">
        <p14:creationId xmlns:p14="http://schemas.microsoft.com/office/powerpoint/2010/main" val="14239618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2026-08-18T20:40:39.8720000Z</dcterms:created>
  <dcterms:modified xsi:type="dcterms:W3CDTF">2026-08-18T20:40:39.8720000Z</dcterms:modified>
</coreProperties>
</file>