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8f66c3117f4a82" /><Relationship Type="http://schemas.openxmlformats.org/officeDocument/2006/relationships/extended-properties" Target="/docProps/app.xml" Id="R284c5870873943f5" /><Relationship Type="http://schemas.openxmlformats.org/officeDocument/2006/relationships/officeDocument" Target="/ppt/presentation.xml" Id="Rc789bb6ae88441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94ebd5f1cb4480"/>
  </p:sldMasterIdLst>
  <p:notesMasterIdLst>
    <p:notesMasterId xmlns:r="http://schemas.openxmlformats.org/officeDocument/2006/relationships" r:id="R3693d790bf24407c"/>
  </p:notesMasterIdLst>
  <p:sldIdLst>
    <p:sldId xmlns:r="http://schemas.openxmlformats.org/officeDocument/2006/relationships" id="256" r:id="R37431f12dfb24a01"/>
    <p:sldId xmlns:r="http://schemas.openxmlformats.org/officeDocument/2006/relationships" id="257" r:id="R9e1881bc045c4a9a"/>
    <p:sldId xmlns:r="http://schemas.openxmlformats.org/officeDocument/2006/relationships" id="258" r:id="R9d0c0610b25d4335"/>
    <p:sldId xmlns:r="http://schemas.openxmlformats.org/officeDocument/2006/relationships" id="259" r:id="R072d49f1dd214653"/>
    <p:sldId xmlns:r="http://schemas.openxmlformats.org/officeDocument/2006/relationships" id="260" r:id="R82f14f6e23114ea7"/>
    <p:sldId xmlns:r="http://schemas.openxmlformats.org/officeDocument/2006/relationships" id="261" r:id="Rb5e5d1117c6e4ef2"/>
    <p:sldId xmlns:r="http://schemas.openxmlformats.org/officeDocument/2006/relationships" id="262" r:id="R670e6ec6134b4bf8"/>
    <p:sldId xmlns:r="http://schemas.openxmlformats.org/officeDocument/2006/relationships" id="263" r:id="R06acc6cb2ce94715"/>
    <p:sldId xmlns:r="http://schemas.openxmlformats.org/officeDocument/2006/relationships" id="264" r:id="R28f50c7b2ca8427b"/>
    <p:sldId xmlns:r="http://schemas.openxmlformats.org/officeDocument/2006/relationships" id="265" r:id="R5570a8f97ad34dee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6a8305f0d4f07" /><Relationship Type="http://schemas.openxmlformats.org/officeDocument/2006/relationships/slideMaster" Target="/ppt/slideMasters/slideMaster1.xml" Id="Rb294ebd5f1cb4480" /><Relationship Type="http://schemas.openxmlformats.org/officeDocument/2006/relationships/notesMaster" Target="/ppt/notesMasters/notesMaster1.xml" Id="R3693d790bf24407c" /><Relationship Type="http://schemas.openxmlformats.org/officeDocument/2006/relationships/presProps" Target="/ppt/presProps.xml" Id="R49b7b12955954b73" /><Relationship Type="http://schemas.openxmlformats.org/officeDocument/2006/relationships/tableStyles" Target="/ppt/tableStyles.xml" Id="R1a0662d221ac4bc9" /><Relationship Type="http://schemas.openxmlformats.org/officeDocument/2006/relationships/slide" Target="/ppt/slides/slide1.xml" Id="R37431f12dfb24a01" /><Relationship Type="http://schemas.openxmlformats.org/officeDocument/2006/relationships/slide" Target="/ppt/slides/slide2.xml" Id="R9e1881bc045c4a9a" /><Relationship Type="http://schemas.openxmlformats.org/officeDocument/2006/relationships/slide" Target="/ppt/slides/slide3.xml" Id="R9d0c0610b25d4335" /><Relationship Type="http://schemas.openxmlformats.org/officeDocument/2006/relationships/slide" Target="/ppt/slides/slide4.xml" Id="R072d49f1dd214653" /><Relationship Type="http://schemas.openxmlformats.org/officeDocument/2006/relationships/slide" Target="/ppt/slides/slide5.xml" Id="R82f14f6e23114ea7" /><Relationship Type="http://schemas.openxmlformats.org/officeDocument/2006/relationships/slide" Target="/ppt/slides/slide6.xml" Id="Rb5e5d1117c6e4ef2" /><Relationship Type="http://schemas.openxmlformats.org/officeDocument/2006/relationships/slide" Target="/ppt/slides/slide7.xml" Id="R670e6ec6134b4bf8" /><Relationship Type="http://schemas.openxmlformats.org/officeDocument/2006/relationships/slide" Target="/ppt/slides/slide8.xml" Id="R06acc6cb2ce94715" /><Relationship Type="http://schemas.openxmlformats.org/officeDocument/2006/relationships/slide" Target="/ppt/slides/slide9.xml" Id="R28f50c7b2ca8427b" /><Relationship Type="http://schemas.openxmlformats.org/officeDocument/2006/relationships/slide" Target="/ppt/slides/slide10.xml" Id="R5570a8f97ad34d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77a96040c74a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5c946eac7462f" /><Relationship Type="http://schemas.openxmlformats.org/officeDocument/2006/relationships/notesMaster" Target="/ppt/notesMasters/notesMaster1.xml" Id="R0416cc7d1b0a43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e338a45b04e07" /><Relationship Type="http://schemas.openxmlformats.org/officeDocument/2006/relationships/notesMaster" Target="/ppt/notesMasters/notesMaster1.xml" Id="R47388841f88e4a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b6ceb99690413f" /><Relationship Type="http://schemas.openxmlformats.org/officeDocument/2006/relationships/notesMaster" Target="/ppt/notesMasters/notesMaster1.xml" Id="R3d768d1f768040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ce03dcbe714ab3" /><Relationship Type="http://schemas.openxmlformats.org/officeDocument/2006/relationships/notesMaster" Target="/ppt/notesMasters/notesMaster1.xml" Id="Rffbff44d0509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515057f0847e5" /><Relationship Type="http://schemas.openxmlformats.org/officeDocument/2006/relationships/notesMaster" Target="/ppt/notesMasters/notesMaster1.xml" Id="R52c4ed79a31045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e652f1286b4605" /><Relationship Type="http://schemas.openxmlformats.org/officeDocument/2006/relationships/notesMaster" Target="/ppt/notesMasters/notesMaster1.xml" Id="Re0653924b60947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91d9583bc14553" /><Relationship Type="http://schemas.openxmlformats.org/officeDocument/2006/relationships/notesMaster" Target="/ppt/notesMasters/notesMaster1.xml" Id="R805ddfa14bef4c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e8592c65ac4973" /><Relationship Type="http://schemas.openxmlformats.org/officeDocument/2006/relationships/notesMaster" Target="/ppt/notesMasters/notesMaster1.xml" Id="R98ba80a8de4e45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6d40c769b34535" /><Relationship Type="http://schemas.openxmlformats.org/officeDocument/2006/relationships/notesMaster" Target="/ppt/notesMasters/notesMaster1.xml" Id="R0226ea271d194a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6c3a7936af4e2f" /><Relationship Type="http://schemas.openxmlformats.org/officeDocument/2006/relationships/notesMaster" Target="/ppt/notesMasters/notesMaster1.xml" Id="R7e16d55b6af940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docs/images/phase7/executive-overview.png</a:t>
            </a:r>
          </a:p>
          <a:p xmlns:a="http://schemas.openxmlformats.org/drawingml/2006/main">
            <a:r>
              <a:t>- docs/CASE_STUDY.md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docs/CASE_STUDY.md</a:t>
            </a:r>
          </a:p>
          <a:p xmlns:a="http://schemas.openxmlformats.org/drawingml/2006/main">
            <a:r>
              <a:t>- docs/DIAGNOSTIC_REPORT.md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artifacts/samples/phase_5_modeling_summaries.json</a:t>
            </a:r>
          </a:p>
          <a:p xmlns:a="http://schemas.openxmlformats.org/drawingml/2006/main">
            <a:r>
              <a:t>- configs/simulation_mvp.yaml</a:t>
            </a:r>
          </a:p>
          <a:p xmlns:a="http://schemas.openxmlformats.org/drawingml/2006/main">
            <a:r>
              <a:t>- docs/DATA_CARD.md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docs/FEATURE_CONTRACT.md</a:t>
            </a:r>
          </a:p>
          <a:p xmlns:a="http://schemas.openxmlformats.org/drawingml/2006/main">
            <a:r>
              <a:t>- docs/SCENARIO_CONTRACT.md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artifacts/samples/phase_5_modeling_summaries.json</a:t>
            </a:r>
          </a:p>
          <a:p xmlns:a="http://schemas.openxmlformats.org/drawingml/2006/main">
            <a:r>
              <a:t>- docs/MODELING_REPORT.md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artifacts/samples/phase_5_modeling_summaries.json</a:t>
            </a:r>
          </a:p>
          <a:p xmlns:a="http://schemas.openxmlformats.org/drawingml/2006/main">
            <a:r>
              <a:t>- docs/images/phase7/forecast-risk.png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artifacts/samples/phase_6_optimization_summaries.json</a:t>
            </a:r>
          </a:p>
          <a:p xmlns:a="http://schemas.openxmlformats.org/drawingml/2006/main">
            <a:r>
              <a:t>- docs/images/phase7/scenario-lab.png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artifacts/samples/phase_7_product_summary.json</a:t>
            </a:r>
          </a:p>
          <a:p xmlns:a="http://schemas.openxmlformats.org/drawingml/2006/main">
            <a:r>
              <a:t>- docs/images/phase7/root-cause-explainability.png</a:t>
            </a:r>
          </a:p>
          <a:p xmlns:a="http://schemas.openxmlformats.org/drawingml/2006/main">
            <a:r>
              <a:t>- powerbi/README.md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docs/MODEL_CARD.md</a:t>
            </a:r>
          </a:p>
          <a:p xmlns:a="http://schemas.openxmlformats.org/drawingml/2006/main">
            <a:r>
              <a:t>- docs/images/phase7/model-reliability.png</a:t>
            </a:r>
          </a:p>
          <a:p xmlns:a="http://schemas.openxmlformats.org/drawingml/2006/main">
            <a:r>
              <a:t>- docs/FINAL_ACCEPTANCE_REPORT.md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docs/CASE_STUDY.md</a:t>
            </a:r>
          </a:p>
          <a:p xmlns:a="http://schemas.openxmlformats.org/drawingml/2006/main">
            <a:r>
              <a:t>- https://github.com/bryanleme/steelFlow-ai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b65d0504441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fa1b6b40544621" /><Relationship Type="http://schemas.openxmlformats.org/officeDocument/2006/relationships/slideLayout" Target="/ppt/slideLayouts/slideLayout1.xml" Id="Rf436d7c6a01d41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36d7c6a01d41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28aa4bc4b4135" /><Relationship Type="http://schemas.openxmlformats.org/officeDocument/2006/relationships/image" Target="/ppt/media/image.png" Id="R5245ab735c674f4e" /><Relationship Type="http://schemas.openxmlformats.org/officeDocument/2006/relationships/notesSlide" Target="/ppt/notesSlides/notesSlide1.xml" Id="R0f1345a4fb8146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0745692e44a8a" /><Relationship Type="http://schemas.openxmlformats.org/officeDocument/2006/relationships/notesSlide" Target="/ppt/notesSlides/notesSlide2.xml" Id="Re445979ac83d43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61aeed91a47f8" /><Relationship Type="http://schemas.openxmlformats.org/officeDocument/2006/relationships/notesSlide" Target="/ppt/notesSlides/notesSlide3.xml" Id="Reeb5fcb6e93f4c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65d78ad2243fb" /><Relationship Type="http://schemas.openxmlformats.org/officeDocument/2006/relationships/notesSlide" Target="/ppt/notesSlides/notesSlide4.xml" Id="R22164b36daca4f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93b0bcda34fd4" /><Relationship Type="http://schemas.openxmlformats.org/officeDocument/2006/relationships/chart" Target="/ppt/slides/charts/chart1.xml" Id="R6c6dac7b8e4b4cfa" /><Relationship Type="http://schemas.openxmlformats.org/officeDocument/2006/relationships/notesSlide" Target="/ppt/notesSlides/notesSlide5.xml" Id="R01f280f31daf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20c76ba9946fb" /><Relationship Type="http://schemas.openxmlformats.org/officeDocument/2006/relationships/image" Target="/ppt/media/image2.png" Id="R0bb7a080185043d7" /><Relationship Type="http://schemas.openxmlformats.org/officeDocument/2006/relationships/notesSlide" Target="/ppt/notesSlides/notesSlide6.xml" Id="R4feac04588b1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4d1c3febc4bd4" /><Relationship Type="http://schemas.openxmlformats.org/officeDocument/2006/relationships/image" Target="/ppt/media/image3.png" Id="Rc5102d4cbe3844f4" /><Relationship Type="http://schemas.openxmlformats.org/officeDocument/2006/relationships/notesSlide" Target="/ppt/notesSlides/notesSlide7.xml" Id="R62595fe72ef34d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1501498654f5f" /><Relationship Type="http://schemas.openxmlformats.org/officeDocument/2006/relationships/image" Target="/ppt/media/image4.png" Id="Rb21448187ac14a2a" /><Relationship Type="http://schemas.openxmlformats.org/officeDocument/2006/relationships/notesSlide" Target="/ppt/notesSlides/notesSlide8.xml" Id="R7a8ae2fc8c77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9d1187f0543f7" /><Relationship Type="http://schemas.openxmlformats.org/officeDocument/2006/relationships/image" Target="/ppt/media/image5.png" Id="R11b22f6d1d8d4d95" /><Relationship Type="http://schemas.openxmlformats.org/officeDocument/2006/relationships/notesSlide" Target="/ppt/notesSlides/notesSlide9.xml" Id="R7f5e384a548248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b9c87a1ea443a" /><Relationship Type="http://schemas.openxmlformats.org/officeDocument/2006/relationships/notesSlide" Target="/ppt/notesSlides/notesSlide10.xml" Id="R6ae9bdd18fa14a5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Melhora relativa do MAE de TBH (%)</c:v>
          </c:tx>
          <c:dPt>
            <c:idx val="0"/>
            <c:invertIfNegative val="0"/>
            <c:spPr>
              <a:solidFill xmlns:a="http://schemas.openxmlformats.org/drawingml/2006/main">
                <a:srgbClr val="FFB34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07111C"/>
                        </a:solidFill>
                      </a:rPr>
                      <a:t>5,00%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07111C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07111C"/>
                        </a:solidFill>
                      </a:rPr>
                      <a:t>0,98%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07111C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"/>
              <c:pt idx="0">
                <c:v>Meta</c:v>
              </c:pt>
              <c:pt idx="1">
                <c:v>Observado</c:v>
              </c:pt>
            </c:strLit>
          </c:cat>
          <c:val>
            <c:numLit>
              <c:formatCode>0.00"%"</c:formatCode>
              <c:ptCount val="2"/>
              <c:pt idx="0">
                <c:v>5</c:v>
              </c:pt>
              <c:pt idx="1">
                <c:v>0.9836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711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7111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4"/>
              </a:solidFill>
              <a:prstDash val="solid"/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06D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C465B4E-C8B9-4601-8397-4D4788D2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CD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DBF"/>
                </a:solidFill>
                <a:latin typeface="Arial"/>
                <a:ea typeface="Arial"/>
                <a:cs typeface="Arial"/>
              </a:rPr>
              <a:t>DECISION SUPPORT · DATA · ML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F3FA4D4-4A83-49F2-BA32-44FE8D80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91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SteelFlow AI</a:t>
            </a:r>
          </a:p>
        </p:txBody>
      </p:sp>
      <p:sp>
        <p:nvSpPr>
          <p:cNvPr id="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60C40F44-D399-42CC-8C5C-48B6BD22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 digital twin que também sabe dizer: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evidência insuficiente.</a:t>
            </a:r>
          </a:p>
        </p:txBody>
      </p:sp>
      <p:sp>
        <p:nvSpPr>
          <p:cNvPr id="4" name="cover-body">
            <a:extLst xmlns:a="http://schemas.openxmlformats.org/drawingml/2006/main">
              <a:ext uri="{FF2B5EF4-FFF2-40B4-BE49-F238E27FC236}">
                <a16:creationId xmlns:a16="http://schemas.microsoft.com/office/drawing/2014/main" id="{27726A53-2ADF-4D3C-B1C7-CAB3F014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7CAD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D8"/>
                </a:solidFill>
                <a:latin typeface="Arial"/>
                <a:ea typeface="Arial"/>
                <a:cs typeface="Arial"/>
              </a:rPr>
              <a:t>Previsão temporal, incerteza calibrada, explicabilidade e cenários Pareto — com limites explícitos.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5ab735c674f4e"/>
          <a:srcRect xmlns:a="http://schemas.openxmlformats.org/drawingml/2006/main" l="0" t="6553" r="0" b="6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05450"/>
            <a:ext cx="8915400" cy="5810250"/>
          </a:xfrm>
          <a:prstGeom xmlns:a="http://schemas.openxmlformats.org/drawingml/2006/main" prst="roundRect">
            <a:avLst>
              <a:gd name="adj" fmla="val 1967"/>
            </a:avLst>
          </a:prstGeom>
        </p:spPr>
      </p:pic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1F88761A-5065-4A5E-995C-2E01823F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39550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CD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CDBF"/>
                </a:solidFill>
                <a:latin typeface="Arial"/>
                <a:ea typeface="Arial"/>
                <a:cs typeface="Arial"/>
              </a:rPr>
              <a:t>PROTÓTIPO OFFLINE · DADOS 100% SINTÉTICOS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144107F0-0DDF-4C51-A2BB-C6D9A75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211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296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296A5"/>
                </a:solidFill>
                <a:latin typeface="Arial"/>
                <a:ea typeface="Arial"/>
                <a:cs typeface="Arial"/>
              </a:rPr>
              <a:t>01/10</a:t>
            </a:r>
          </a:p>
        </p:txBody>
      </p:sp>
    </p:spTree>
    <p:extLst>
      <p:ext uri="{BB962C8B-B14F-4D97-AF65-F5344CB8AC3E}">
        <p14:creationId xmlns:p14="http://schemas.microsoft.com/office/powerpoint/2010/main" val="1662700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2">
            <a:extLst xmlns:a="http://schemas.openxmlformats.org/drawingml/2006/main">
              <a:ext uri="{FF2B5EF4-FFF2-40B4-BE49-F238E27FC236}">
                <a16:creationId xmlns:a16="http://schemas.microsoft.com/office/drawing/2014/main" id="{BA9A8F56-D461-4607-BB4F-C3D3C8EB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4ABDDD71-3B89-49B3-872E-9CA0631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F075446A-463B-4036-B5A9-3226ABEC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Decisão ainda retrospectiva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E144F5FD-A789-4B8D-A95B-E0F5C36C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Mais dados não resolvem automaticamente contexto, tempo e causalidade.</a:t>
            </a:r>
          </a:p>
        </p:txBody>
      </p:sp>
      <p:cxnSp>
        <p:nvCxnSpPr>
          <p:cNvPr id="27" name="header-rule-2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6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B72D0046-2552-46AF-8628-19B3C3EC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29" name="problem-rule-01"/>
          <p:cNvCxnSpPr/>
          <p:nvPr/>
        </p:nvCxnSpPr>
        <p:spPr>
          <a:xfrm xmlns:a="http://schemas.openxmlformats.org/drawingml/2006/main">
            <a:off x="685800" y="45148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8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CF11D9C9-7961-48E9-8B50-27B4A1BB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Mix muda a base</a:t>
            </a:r>
          </a:p>
        </p:txBody>
      </p:sp>
      <p:sp>
        <p:nvSpPr>
          <p:cNvPr id="9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A788D1-B479-48B9-B9C9-5DB2BE63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Produto, grau e linha alteram produtividade e qualidade antes de qualquer ajuste.</a:t>
            </a:r>
          </a:p>
        </p:txBody>
      </p:sp>
      <p:sp>
        <p:nvSpPr>
          <p:cNvPr id="10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C4207BA3-E5C4-40C8-B50B-1BF18B8C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3" name="problem-rule-02"/>
          <p:cNvCxnSpPr/>
          <p:nvPr/>
        </p:nvCxnSpPr>
        <p:spPr>
          <a:xfrm xmlns:a="http://schemas.openxmlformats.org/drawingml/2006/main">
            <a:off x="3752850" y="45148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2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A0A5A631-0016-433F-BC1C-008A53C2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Desgaste muda o envelope</a:t>
            </a:r>
          </a:p>
        </p:txBody>
      </p:sp>
      <p:sp>
        <p:nvSpPr>
          <p:cNvPr id="13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AC69334-AE3E-4832-A9B7-68990A7E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00075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O que parece viável hoje pode estar fora do suporte em outra condição do ativo.</a:t>
            </a:r>
          </a:p>
        </p:txBody>
      </p:sp>
      <p:sp>
        <p:nvSpPr>
          <p:cNvPr id="14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6E63EB39-B08A-466C-A3B9-F9368C76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7" name="problem-rule-03"/>
          <p:cNvCxnSpPr/>
          <p:nvPr/>
        </p:nvCxnSpPr>
        <p:spPr>
          <a:xfrm xmlns:a="http://schemas.openxmlformats.org/drawingml/2006/main">
            <a:off x="6819900" y="45148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6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F799815-9048-4402-8AFA-EB58A79D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Média esconde contexto</a:t>
            </a:r>
          </a:p>
        </p:txBody>
      </p:sp>
      <p:sp>
        <p:nvSpPr>
          <p:cNvPr id="17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66A08EB7-13C6-42D2-AC96-67721FA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00075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Uma leitura agregada pode transformar associação em uma explicação conveniente.</a:t>
            </a:r>
          </a:p>
        </p:txBody>
      </p:sp>
      <p:sp>
        <p:nvSpPr>
          <p:cNvPr id="18" name="problem-close">
            <a:extLst xmlns:a="http://schemas.openxmlformats.org/drawingml/2006/main">
              <a:ext uri="{FF2B5EF4-FFF2-40B4-BE49-F238E27FC236}">
                <a16:creationId xmlns:a16="http://schemas.microsoft.com/office/drawing/2014/main" id="{753BC7FF-7C10-45F2-8437-6355534A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A pergunta não é só “qual número?”.</a:t>
            </a:r>
          </a:p>
          <a:p xmlns:a="http://schemas.openxmlformats.org/drawingml/2006/main">
            <a:pPr algn="l">
              <a:defRPr sz="28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É “em qual contexto — e com qual incerteza?”.</a:t>
            </a:r>
          </a:p>
        </p:txBody>
      </p:sp>
      <p:cxnSp>
        <p:nvCxnSpPr>
          <p:cNvPr id="41" name="problem-accent"/>
          <p:cNvCxnSpPr/>
          <p:nvPr/>
        </p:nvCxnSpPr>
        <p:spPr>
          <a:xfrm xmlns:a="http://schemas.openxmlformats.org/drawingml/2006/main">
            <a:off x="685800" y="1076325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20CDBF"/>
            </a:solidFill>
            <a:prstDash val="solid"/>
          </a:ln>
        </p:spPr>
      </p:cxnSp>
      <p:cxnSp>
        <p:nvCxnSpPr>
          <p:cNvPr id="42" name="footer-rule-2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BB46D2F3-5DFF-436C-91FC-BECC7756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100% sintético · sem controle de máquina</a:t>
            </a:r>
          </a:p>
        </p:txBody>
      </p:sp>
      <p:sp>
        <p:nvSpPr>
          <p:cNvPr id="2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3D73AC7-7AD0-4576-8A27-E7935F45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1107307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3">
            <a:extLst xmlns:a="http://schemas.openxmlformats.org/drawingml/2006/main">
              <a:ext uri="{FF2B5EF4-FFF2-40B4-BE49-F238E27FC236}">
                <a16:creationId xmlns:a16="http://schemas.microsoft.com/office/drawing/2014/main" id="{E40C8A0D-DDDE-4CC6-A107-30469495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 CONSTRUÇÃO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0A471C6A-DF9E-4B63-87B1-FC9D024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63ADC85-D3F5-408E-BF3D-1475B42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Escala com rastreabilidade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2F596F01-D0D6-494F-B6E6-12156833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O gerador sintético nasce auditável: configuração, seed, IDs, manifests e hashes.</a:t>
            </a:r>
          </a:p>
        </p:txBody>
      </p:sp>
      <p:cxnSp>
        <p:nvCxnSpPr>
          <p:cNvPr id="25" name="header-rule-3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6" name="scale-panel-0">
            <a:extLst xmlns:a="http://schemas.openxmlformats.org/drawingml/2006/main">
              <a:ext uri="{FF2B5EF4-FFF2-40B4-BE49-F238E27FC236}">
                <a16:creationId xmlns:a16="http://schemas.microsoft.com/office/drawing/2014/main" id="{9003E482-082D-4741-AE42-681DDAA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ale-value-0">
            <a:extLst xmlns:a="http://schemas.openxmlformats.org/drawingml/2006/main">
              <a:ext uri="{FF2B5EF4-FFF2-40B4-BE49-F238E27FC236}">
                <a16:creationId xmlns:a16="http://schemas.microsoft.com/office/drawing/2014/main" id="{901F0D1A-A890-4CD1-87B0-86F31BEF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924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12.594.517</a:t>
            </a:r>
          </a:p>
        </p:txBody>
      </p:sp>
      <p:sp>
        <p:nvSpPr>
          <p:cNvPr id="8" name="scale-label-0">
            <a:extLst xmlns:a="http://schemas.openxmlformats.org/drawingml/2006/main">
              <a:ext uri="{FF2B5EF4-FFF2-40B4-BE49-F238E27FC236}">
                <a16:creationId xmlns:a16="http://schemas.microsoft.com/office/drawing/2014/main" id="{60E060D8-07DB-48CA-AA2A-AFA3AF12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registros públicos</a:t>
            </a:r>
          </a:p>
        </p:txBody>
      </p:sp>
      <p:sp>
        <p:nvSpPr>
          <p:cNvPr id="9" name="scale-panel-1">
            <a:extLst xmlns:a="http://schemas.openxmlformats.org/drawingml/2006/main">
              <a:ext uri="{FF2B5EF4-FFF2-40B4-BE49-F238E27FC236}">
                <a16:creationId xmlns:a16="http://schemas.microsoft.com/office/drawing/2014/main" id="{8AAF25ED-0EB1-4EFE-ADFC-495E4D98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ale-value-1">
            <a:extLst xmlns:a="http://schemas.openxmlformats.org/drawingml/2006/main">
              <a:ext uri="{FF2B5EF4-FFF2-40B4-BE49-F238E27FC236}">
                <a16:creationId xmlns:a16="http://schemas.microsoft.com/office/drawing/2014/main" id="{3254C4D1-E694-4C17-8F57-6C5F35B1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91000"/>
            <a:ext cx="1924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0CDB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CDBF"/>
                </a:solidFill>
                <a:latin typeface="Arial"/>
                <a:ea typeface="Arial"/>
                <a:cs typeface="Arial"/>
              </a:rPr>
              <a:t>250 mil</a:t>
            </a:r>
          </a:p>
        </p:txBody>
      </p:sp>
      <p:sp>
        <p:nvSpPr>
          <p:cNvPr id="11" name="scale-label-1">
            <a:extLst xmlns:a="http://schemas.openxmlformats.org/drawingml/2006/main">
              <a:ext uri="{FF2B5EF4-FFF2-40B4-BE49-F238E27FC236}">
                <a16:creationId xmlns:a16="http://schemas.microsoft.com/office/drawing/2014/main" id="{56A600E3-D71D-4DCD-BDC9-A834017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292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tubos sintéticos</a:t>
            </a:r>
          </a:p>
        </p:txBody>
      </p:sp>
      <p:sp>
        <p:nvSpPr>
          <p:cNvPr id="12" name="scale-panel-2">
            <a:extLst xmlns:a="http://schemas.openxmlformats.org/drawingml/2006/main">
              <a:ext uri="{FF2B5EF4-FFF2-40B4-BE49-F238E27FC236}">
                <a16:creationId xmlns:a16="http://schemas.microsoft.com/office/drawing/2014/main" id="{593EE660-167F-4022-A890-723F92EA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ale-value-2">
            <a:extLst xmlns:a="http://schemas.openxmlformats.org/drawingml/2006/main">
              <a:ext uri="{FF2B5EF4-FFF2-40B4-BE49-F238E27FC236}">
                <a16:creationId xmlns:a16="http://schemas.microsoft.com/office/drawing/2014/main" id="{89387527-79D8-4DDD-B808-38A8C596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1924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B34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341"/>
                </a:solidFill>
                <a:latin typeface="Arial"/>
                <a:ea typeface="Arial"/>
                <a:cs typeface="Arial"/>
              </a:rPr>
              <a:t>24 meses</a:t>
            </a:r>
          </a:p>
        </p:txBody>
      </p:sp>
      <p:sp>
        <p:nvSpPr>
          <p:cNvPr id="14" name="scale-label-2">
            <a:extLst xmlns:a="http://schemas.openxmlformats.org/drawingml/2006/main">
              <a:ext uri="{FF2B5EF4-FFF2-40B4-BE49-F238E27FC236}">
                <a16:creationId xmlns:a16="http://schemas.microsoft.com/office/drawing/2014/main" id="{389C8564-2C1D-4A36-9A1F-4AC3E428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de trajetória temporal</a:t>
            </a:r>
          </a:p>
        </p:txBody>
      </p:sp>
      <p:sp>
        <p:nvSpPr>
          <p:cNvPr id="15" name="scale-isolation-title">
            <a:extLst xmlns:a="http://schemas.openxmlformats.org/drawingml/2006/main">
              <a:ext uri="{FF2B5EF4-FFF2-40B4-BE49-F238E27FC236}">
                <a16:creationId xmlns:a16="http://schemas.microsoft.com/office/drawing/2014/main" id="{8B09EAD8-F00E-467E-9656-62DA239B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0"/>
            <a:ext cx="891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A verdade causal fica fora do treino.</a:t>
            </a:r>
          </a:p>
        </p:txBody>
      </p:sp>
      <p:sp>
        <p:nvSpPr>
          <p:cNvPr id="16" name="scale-isolation-body">
            <a:extLst xmlns:a="http://schemas.openxmlformats.org/drawingml/2006/main">
              <a:ext uri="{FF2B5EF4-FFF2-40B4-BE49-F238E27FC236}">
                <a16:creationId xmlns:a16="http://schemas.microsoft.com/office/drawing/2014/main" id="{B489DFF5-4A06-44AE-B5E3-431AC2FD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20100"/>
            <a:ext cx="891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Parâmetros latentes vivem em armazenamento isolado. Features, modelos e otimização usam apenas campos públicos disponíveis no tempo.</a:t>
            </a:r>
          </a:p>
        </p:txBody>
      </p:sp>
      <p:sp>
        <p:nvSpPr>
          <p:cNvPr id="17" name="scale-proof">
            <a:extLst xmlns:a="http://schemas.openxmlformats.org/drawingml/2006/main">
              <a:ext uri="{FF2B5EF4-FFF2-40B4-BE49-F238E27FC236}">
                <a16:creationId xmlns:a16="http://schemas.microsoft.com/office/drawing/2014/main" id="{31E690D1-A627-45E6-8A7D-714AD5B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0"/>
            <a:ext cx="891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MESMA SEED → MESMOS IDs E HASH LÓGICO</a:t>
            </a:r>
          </a:p>
        </p:txBody>
      </p:sp>
      <p:cxnSp>
        <p:nvCxnSpPr>
          <p:cNvPr id="38" name="footer-rule-3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9" name="footer-3">
            <a:extLst xmlns:a="http://schemas.openxmlformats.org/drawingml/2006/main">
              <a:ext uri="{FF2B5EF4-FFF2-40B4-BE49-F238E27FC236}">
                <a16:creationId xmlns:a16="http://schemas.microsoft.com/office/drawing/2014/main" id="{247CD476-3CF3-452B-976B-935DE610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100% sintético · sem controle de máquina</a:t>
            </a:r>
          </a:p>
        </p:txBody>
      </p:sp>
      <p:sp>
        <p:nvSpPr>
          <p:cNvPr id="2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80F9634-0980-403F-8FC6-DAED367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133527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4">
            <a:extLst xmlns:a="http://schemas.openxmlformats.org/drawingml/2006/main">
              <a:ext uri="{FF2B5EF4-FFF2-40B4-BE49-F238E27FC236}">
                <a16:creationId xmlns:a16="http://schemas.microsoft.com/office/drawing/2014/main" id="{EDD52721-5E7E-4DF1-AEDE-59D1E96E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AB7F21C-31FD-4A63-8313-DB8BACA0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00505D56-F7D8-4458-B71A-983F70C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O pipeline preserva o tempo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8B4488E1-94C0-4570-BEDA-595A45E1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Cada camada recebe somente o que estaria disponível no momento da decisão.</a:t>
            </a:r>
          </a:p>
        </p:txBody>
      </p:sp>
      <p:cxnSp>
        <p:nvCxnSpPr>
          <p:cNvPr id="32" name="header-rule-4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cxnSp>
        <p:nvCxnSpPr>
          <p:cNvPr id="33" name="architecture-connector-0"/>
          <p:cNvCxnSpPr/>
          <p:nvPr/>
        </p:nvCxnSpPr>
        <p:spPr>
          <a:xfrm xmlns:a="http://schemas.openxmlformats.org/drawingml/2006/main">
            <a:off x="1676400" y="50673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CC4CC"/>
            </a:solidFill>
            <a:prstDash val="solid"/>
          </a:ln>
        </p:spPr>
      </p:cxnSp>
      <p:cxnSp>
        <p:nvCxnSpPr>
          <p:cNvPr id="34" name="architecture-connector-1"/>
          <p:cNvCxnSpPr/>
          <p:nvPr/>
        </p:nvCxnSpPr>
        <p:spPr>
          <a:xfrm xmlns:a="http://schemas.openxmlformats.org/drawingml/2006/main">
            <a:off x="1676400" y="70294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CC4CC"/>
            </a:solidFill>
            <a:prstDash val="solid"/>
          </a:ln>
        </p:spPr>
      </p:cxnSp>
      <p:cxnSp>
        <p:nvCxnSpPr>
          <p:cNvPr id="35" name="architecture-connector-2"/>
          <p:cNvCxnSpPr/>
          <p:nvPr/>
        </p:nvCxnSpPr>
        <p:spPr>
          <a:xfrm xmlns:a="http://schemas.openxmlformats.org/drawingml/2006/main">
            <a:off x="1676400" y="89916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CC4CC"/>
            </a:solidFill>
            <a:prstDash val="solid"/>
          </a:ln>
        </p:spPr>
      </p:cxnSp>
      <p:sp>
        <p:nvSpPr>
          <p:cNvPr id="9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809E894A-E895-4BE4-99BA-04106EDB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915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E9A456B3-EDAF-496A-842F-132499E9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 · FONTE</a:t>
            </a:r>
          </a:p>
        </p:txBody>
      </p:sp>
      <p:sp>
        <p:nvSpPr>
          <p:cNvPr id="11" name="architecture-title-0">
            <a:extLst xmlns:a="http://schemas.openxmlformats.org/drawingml/2006/main">
              <a:ext uri="{FF2B5EF4-FFF2-40B4-BE49-F238E27FC236}">
                <a16:creationId xmlns:a16="http://schemas.microsoft.com/office/drawing/2014/main" id="{AE7C1909-0EF2-4C52-9241-72E69DE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7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YAML versionado + gerador</a:t>
            </a:r>
          </a:p>
        </p:txBody>
      </p:sp>
      <p:sp>
        <p:nvSpPr>
          <p:cNvPr id="12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2443E20E-D37D-4C08-9820-E0CDAA86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481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9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Parquet particionado, manifests e hashes</a:t>
            </a:r>
          </a:p>
        </p:txBody>
      </p:sp>
      <p:sp>
        <p:nvSpPr>
          <p:cNvPr id="13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FBA93CBE-036B-42B7-806D-397F0C34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8915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191F405A-4BBF-474E-939F-BE7C4E1C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912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 · DADOS</a:t>
            </a:r>
          </a:p>
        </p:txBody>
      </p:sp>
      <p:sp>
        <p:nvSpPr>
          <p:cNvPr id="15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3137CB2C-176E-4F6C-A774-495799E6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91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DuckDB + marts</a:t>
            </a:r>
          </a:p>
        </p:txBody>
      </p:sp>
      <p:sp>
        <p:nvSpPr>
          <p:cNvPr id="16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1CA2F84E-D437-49B1-A04A-8510994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21030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KPIs reconciliados e esquema estrela</a:t>
            </a:r>
          </a:p>
        </p:txBody>
      </p:sp>
      <p:sp>
        <p:nvSpPr>
          <p:cNvPr id="17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499F244B-526A-458B-BA0F-A69DADFA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8915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338B6713-54E4-48C3-B08D-94D4ACAB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53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· INTELIGÊNCIA</a:t>
            </a:r>
          </a:p>
        </p:txBody>
      </p:sp>
      <p:sp>
        <p:nvSpPr>
          <p:cNvPr id="19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15507171-AF5E-4A48-B891-1E3C5C77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Snapshots + ML temporal</a:t>
            </a:r>
          </a:p>
        </p:txBody>
      </p:sp>
      <p:sp>
        <p:nvSpPr>
          <p:cNvPr id="20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8522248E-326F-4065-A609-497C1EA7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1724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Calibração, P10/P50/P90 e TreeSHAP</a:t>
            </a:r>
          </a:p>
        </p:txBody>
      </p:sp>
      <p:sp>
        <p:nvSpPr>
          <p:cNvPr id="21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30C0A199-4DE7-4AC1-862B-9E894288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8915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8390117C-492F-4BBF-B516-9654EF40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 · DECISÃO</a:t>
            </a:r>
          </a:p>
        </p:txBody>
      </p:sp>
      <p:sp>
        <p:nvSpPr>
          <p:cNvPr id="23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1EB2DEA6-769B-4633-BDDD-A8C81E63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115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5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OOD + NSGA-II + revisão humana</a:t>
            </a:r>
          </a:p>
        </p:txBody>
      </p:sp>
      <p:sp>
        <p:nvSpPr>
          <p:cNvPr id="24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B7FC4A07-4684-448B-AAC5-85ACD6D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13460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91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Cenários restritos; nenhum comando de máquina</a:t>
            </a:r>
          </a:p>
        </p:txBody>
      </p:sp>
      <p:cxnSp>
        <p:nvCxnSpPr>
          <p:cNvPr id="52" name="footer-rule-4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6" name="footer-4">
            <a:extLst xmlns:a="http://schemas.openxmlformats.org/drawingml/2006/main">
              <a:ext uri="{FF2B5EF4-FFF2-40B4-BE49-F238E27FC236}">
                <a16:creationId xmlns:a16="http://schemas.microsoft.com/office/drawing/2014/main" id="{652DA731-9400-4D43-8639-1FBE9380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100% sintético · sem controle de máquina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2E3F5F1-82AB-417B-825F-5C1321C8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425504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16479E2D-EC67-46B6-B504-0D78D4D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AVALIAÇÃO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C8DA4592-4AA8-4286-AA86-79A57C18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C7A5FB37-2FB3-42B3-89E9-BD03B03B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A meta não foi atingida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00368B43-48A8-49D7-8FD2-0BB474F6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O teste cronológico final ficou congelado — e o resultado desfavorável permaneceu visível.</a:t>
            </a:r>
          </a:p>
        </p:txBody>
      </p:sp>
      <p:cxnSp>
        <p:nvCxnSpPr>
          <p:cNvPr id="17" name="header-rule-5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143000" y="3619500"/>
          <a:ext xmlns:a="http://schemas.openxmlformats.org/drawingml/2006/main" cx="8001000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6dac7b8e4b4cfa"/>
          </a:graphicData>
        </a:graphic>
      </p:graphicFrame>
      <p:sp>
        <p:nvSpPr>
          <p:cNvPr id="7" name="goal-result">
            <a:extLst xmlns:a="http://schemas.openxmlformats.org/drawingml/2006/main">
              <a:ext uri="{FF2B5EF4-FFF2-40B4-BE49-F238E27FC236}">
                <a16:creationId xmlns:a16="http://schemas.microsoft.com/office/drawing/2014/main" id="{7E45A790-C2D5-431E-A514-608F9BF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0,98%</a:t>
            </a:r>
          </a:p>
        </p:txBody>
      </p:sp>
      <p:sp>
        <p:nvSpPr>
          <p:cNvPr id="8" name="goal-result-label">
            <a:extLst xmlns:a="http://schemas.openxmlformats.org/drawingml/2006/main">
              <a:ext uri="{FF2B5EF4-FFF2-40B4-BE49-F238E27FC236}">
                <a16:creationId xmlns:a16="http://schemas.microsoft.com/office/drawing/2014/main" id="{D84CA675-496A-4FEE-8117-7B716C78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88582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melhora estimada</a:t>
            </a:r>
          </a:p>
          <a:p xmlns:a="http://schemas.openxmlformats.org/drawingml/2006/main">
            <a:pPr algn="l">
              <a:defRPr sz="19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contra a melhor baseline</a:t>
            </a:r>
          </a:p>
        </p:txBody>
      </p:sp>
      <p:sp>
        <p:nvSpPr>
          <p:cNvPr id="9" name="goal-conclusion">
            <a:extLst xmlns:a="http://schemas.openxmlformats.org/drawingml/2006/main">
              <a:ext uri="{FF2B5EF4-FFF2-40B4-BE49-F238E27FC236}">
                <a16:creationId xmlns:a16="http://schemas.microsoft.com/office/drawing/2014/main" id="{63A48D6E-2B42-472B-AE0F-71529D2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34625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Modelo complexo não ganha por decreto.</a:t>
            </a:r>
          </a:p>
        </p:txBody>
      </p:sp>
      <p:cxnSp>
        <p:nvCxnSpPr>
          <p:cNvPr id="22" name="footer-rule-5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B4AB63AA-4EA4-4769-8BB7-32CBDC9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Backtest sintético · meta de 5% não atingida</a:t>
            </a:r>
          </a:p>
        </p:txBody>
      </p:sp>
      <p:sp>
        <p:nvSpPr>
          <p:cNvPr id="1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0B3E65A-5C17-4548-A2FB-B36D309D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293692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6">
            <a:extLst xmlns:a="http://schemas.openxmlformats.org/drawingml/2006/main">
              <a:ext uri="{FF2B5EF4-FFF2-40B4-BE49-F238E27FC236}">
                <a16:creationId xmlns:a16="http://schemas.microsoft.com/office/drawing/2014/main" id="{659F945D-A006-43A3-AB1A-75F5D7E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CONFIABILIDADE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0B509CEE-2A28-444C-B744-1F7E6C3F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5492D9AD-FB96-4C42-8E81-83EF7CD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Incerteza faz parte da resposta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B93B64D3-FB90-4719-855E-5414F94A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Previsão pontual, faixa, calibração e distância histórica aparecem juntas.</a:t>
            </a:r>
          </a:p>
        </p:txBody>
      </p:sp>
      <p:cxnSp>
        <p:nvCxnSpPr>
          <p:cNvPr id="21" name="header-rule-6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6" name="coverage-panel">
            <a:extLst xmlns:a="http://schemas.openxmlformats.org/drawingml/2006/main">
              <a:ext uri="{FF2B5EF4-FFF2-40B4-BE49-F238E27FC236}">
                <a16:creationId xmlns:a16="http://schemas.microsoft.com/office/drawing/2014/main" id="{EC299AF2-E080-435B-A00E-BD55179F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229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D6CF3F07-787A-47F9-9146-0C2605BF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695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77,39–82,13%</a:t>
            </a:r>
          </a:p>
        </p:txBody>
      </p:sp>
      <p:sp>
        <p:nvSpPr>
          <p:cNvPr id="8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C58CB391-84C5-4855-8331-BB1F00E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cobertura P10–P90</a:t>
            </a:r>
          </a:p>
          <a:p xmlns:a="http://schemas.openxmlformats.org/drawingml/2006/main">
            <a:pPr algn="l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nos seis alvos contínuos</a:t>
            </a:r>
          </a:p>
        </p:txBody>
      </p:sp>
      <p:sp>
        <p:nvSpPr>
          <p:cNvPr id="9" name="calibration-panel">
            <a:extLst xmlns:a="http://schemas.openxmlformats.org/drawingml/2006/main">
              <a:ext uri="{FF2B5EF4-FFF2-40B4-BE49-F238E27FC236}">
                <a16:creationId xmlns:a16="http://schemas.microsoft.com/office/drawing/2014/main" id="{A53F84A9-C583-45A2-A10D-ED2808C1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43300"/>
            <a:ext cx="42291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libration-value">
            <a:extLst xmlns:a="http://schemas.openxmlformats.org/drawingml/2006/main">
              <a:ext uri="{FF2B5EF4-FFF2-40B4-BE49-F238E27FC236}">
                <a16:creationId xmlns:a16="http://schemas.microsoft.com/office/drawing/2014/main" id="{35C904CA-1018-4383-AC1B-D5DF900E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43350"/>
            <a:ext cx="3695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CDB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CDBF"/>
                </a:solidFill>
                <a:latin typeface="Arial"/>
                <a:ea typeface="Arial"/>
                <a:cs typeface="Arial"/>
              </a:rPr>
              <a:t>0,00053–0,01572</a:t>
            </a:r>
          </a:p>
        </p:txBody>
      </p:sp>
      <p:sp>
        <p:nvSpPr>
          <p:cNvPr id="11" name="calibration-label">
            <a:extLst xmlns:a="http://schemas.openxmlformats.org/drawingml/2006/main">
              <a:ext uri="{FF2B5EF4-FFF2-40B4-BE49-F238E27FC236}">
                <a16:creationId xmlns:a16="http://schemas.microsoft.com/office/drawing/2014/main" id="{9808A3DB-6589-4E66-82B5-8ACE943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863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ECE após calibração</a:t>
            </a:r>
          </a:p>
          <a:p xmlns:a="http://schemas.openxmlformats.org/drawingml/2006/main">
            <a:pPr algn="l">
              <a:defRPr sz="16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nos quatro classificadores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7a080185043d7"/>
          <a:srcRect xmlns:a="http://schemas.openxmlformats.org/drawingml/2006/main" l="0" t="13675" r="0" b="13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905500"/>
            <a:ext cx="89154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3" name="uncertainty-caption">
            <a:extLst xmlns:a="http://schemas.openxmlformats.org/drawingml/2006/main">
              <a:ext uri="{FF2B5EF4-FFF2-40B4-BE49-F238E27FC236}">
                <a16:creationId xmlns:a16="http://schemas.microsoft.com/office/drawing/2014/main" id="{27BF9B8F-FE17-46E5-A26F-BC14C8E9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25200"/>
            <a:ext cx="891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A faixa não é rodapé: ela muda a decisão.</a:t>
            </a:r>
          </a:p>
        </p:txBody>
      </p:sp>
      <p:cxnSp>
        <p:nvCxnSpPr>
          <p:cNvPr id="30" name="footer-rule-6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5" name="footer-6">
            <a:extLst xmlns:a="http://schemas.openxmlformats.org/drawingml/2006/main">
              <a:ext uri="{FF2B5EF4-FFF2-40B4-BE49-F238E27FC236}">
                <a16:creationId xmlns:a16="http://schemas.microsoft.com/office/drawing/2014/main" id="{4C805FD8-4599-4ADF-B429-241AE781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100% sintético · sem controle de máquina</a:t>
            </a:r>
          </a:p>
        </p:txBody>
      </p:sp>
      <p:sp>
        <p:nvSpPr>
          <p:cNvPr id="1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2013CB81-4EEF-4A4F-908A-E38429DD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998034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7DD2BC6F-D214-4CBA-88EC-599B1C28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CENÁRIOS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6A092EF0-99DD-4B9B-AA19-12622A4E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B63F41E9-DCD1-4F71-9BF9-B1341380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O otimizador também sabe recusar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301F72D8-C84C-47AE-B5A3-54F74CA2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Alternativas só aparecem dentro do suporte sintético e após todas as restrições.</a:t>
            </a:r>
          </a:p>
        </p:txBody>
      </p:sp>
      <p:cxnSp>
        <p:nvCxnSpPr>
          <p:cNvPr id="21" name="header-rule-7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6" name="scenario-stat-0">
            <a:extLst xmlns:a="http://schemas.openxmlformats.org/drawingml/2006/main">
              <a:ext uri="{FF2B5EF4-FFF2-40B4-BE49-F238E27FC236}">
                <a16:creationId xmlns:a16="http://schemas.microsoft.com/office/drawing/2014/main" id="{3874855A-F37C-4BE5-91CD-BFB684E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20.160</a:t>
            </a:r>
          </a:p>
        </p:txBody>
      </p:sp>
      <p:sp>
        <p:nvSpPr>
          <p:cNvPr id="7" name="scenario-label-0">
            <a:extLst xmlns:a="http://schemas.openxmlformats.org/drawingml/2006/main">
              <a:ext uri="{FF2B5EF4-FFF2-40B4-BE49-F238E27FC236}">
                <a16:creationId xmlns:a16="http://schemas.microsoft.com/office/drawing/2014/main" id="{4B60A1AD-6086-4D18-AA3A-BF02DED9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avaliações NSGA-II</a:t>
            </a:r>
          </a:p>
        </p:txBody>
      </p:sp>
      <p:sp>
        <p:nvSpPr>
          <p:cNvPr id="8" name="scenario-stat-1">
            <a:extLst xmlns:a="http://schemas.openxmlformats.org/drawingml/2006/main">
              <a:ext uri="{FF2B5EF4-FFF2-40B4-BE49-F238E27FC236}">
                <a16:creationId xmlns:a16="http://schemas.microsoft.com/office/drawing/2014/main" id="{5D22E322-4953-4C2D-91E9-4402904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scenario-label-1">
            <a:extLst xmlns:a="http://schemas.openxmlformats.org/drawingml/2006/main">
              <a:ext uri="{FF2B5EF4-FFF2-40B4-BE49-F238E27FC236}">
                <a16:creationId xmlns:a16="http://schemas.microsoft.com/office/drawing/2014/main" id="{E033F261-4F50-4440-B9EC-5106D37A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71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restrições duras</a:t>
            </a:r>
          </a:p>
        </p:txBody>
      </p:sp>
      <p:sp>
        <p:nvSpPr>
          <p:cNvPr id="10" name="scenario-stat-2">
            <a:extLst xmlns:a="http://schemas.openxmlformats.org/drawingml/2006/main">
              <a:ext uri="{FF2B5EF4-FFF2-40B4-BE49-F238E27FC236}">
                <a16:creationId xmlns:a16="http://schemas.microsoft.com/office/drawing/2014/main" id="{7DD40CCC-8CAC-4B1A-A91B-89AD34F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55B6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55B68"/>
                </a:solidFill>
                <a:latin typeface="Arial"/>
                <a:ea typeface="Arial"/>
                <a:cs typeface="Arial"/>
              </a:rPr>
              <a:t>3/3</a:t>
            </a:r>
          </a:p>
        </p:txBody>
      </p:sp>
      <p:sp>
        <p:nvSpPr>
          <p:cNvPr id="11" name="scenario-label-2">
            <a:extLst xmlns:a="http://schemas.openxmlformats.org/drawingml/2006/main">
              <a:ext uri="{FF2B5EF4-FFF2-40B4-BE49-F238E27FC236}">
                <a16:creationId xmlns:a16="http://schemas.microsoft.com/office/drawing/2014/main" id="{A76B89E4-D43B-41CE-8CB1-6E6DA87F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sondas OOD recusadas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02d4cbe3844f4"/>
          <a:srcRect xmlns:a="http://schemas.openxmlformats.org/drawingml/2006/main" l="0" t="10114" r="0" b="10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219700"/>
            <a:ext cx="8915400" cy="5334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13" name="scenario-close">
            <a:extLst xmlns:a="http://schemas.openxmlformats.org/drawingml/2006/main">
              <a:ext uri="{FF2B5EF4-FFF2-40B4-BE49-F238E27FC236}">
                <a16:creationId xmlns:a16="http://schemas.microsoft.com/office/drawing/2014/main" id="{77D68B23-F225-4FB9-AD55-5D8FE63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0"/>
            <a:ext cx="891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12 cenários publicados · 100% das restrições · aceite humano obrigatório</a:t>
            </a:r>
          </a:p>
        </p:txBody>
      </p:sp>
      <p:cxnSp>
        <p:nvCxnSpPr>
          <p:cNvPr id="30" name="footer-rule-7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5" name="footer-7">
            <a:extLst xmlns:a="http://schemas.openxmlformats.org/drawingml/2006/main">
              <a:ext uri="{FF2B5EF4-FFF2-40B4-BE49-F238E27FC236}">
                <a16:creationId xmlns:a16="http://schemas.microsoft.com/office/drawing/2014/main" id="{879FB160-5E7C-4A0A-BE16-8BA8440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100% sintético · sem controle de máquina</a:t>
            </a:r>
          </a:p>
        </p:txBody>
      </p:sp>
      <p:sp>
        <p:nvSpPr>
          <p:cNvPr id="1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CA91ED8-7E0E-433D-9AFA-55771DA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679812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13323388-F758-47C3-802D-1ACEDC76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PRODUTO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085CC0FB-9DA9-4DB1-948A-14D31DFD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8EAD528E-F504-44D4-97EC-A4ED4177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Cinco páginas, uma trilha de decisão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8F1FE70D-04EE-4DA5-B441-1A4F36CD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Tendência → associação → previsão → cenário → confiabilidade.</a:t>
            </a:r>
          </a:p>
        </p:txBody>
      </p:sp>
      <p:cxnSp>
        <p:nvCxnSpPr>
          <p:cNvPr id="30" name="header-rule-8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6" name="product-index-0">
            <a:extLst xmlns:a="http://schemas.openxmlformats.org/drawingml/2006/main">
              <a:ext uri="{FF2B5EF4-FFF2-40B4-BE49-F238E27FC236}">
                <a16:creationId xmlns:a16="http://schemas.microsoft.com/office/drawing/2014/main" id="{8C5E6F41-3061-44E2-A958-2141A1F6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roduct-page-0">
            <a:extLst xmlns:a="http://schemas.openxmlformats.org/drawingml/2006/main">
              <a:ext uri="{FF2B5EF4-FFF2-40B4-BE49-F238E27FC236}">
                <a16:creationId xmlns:a16="http://schemas.microsoft.com/office/drawing/2014/main" id="{E620A6BE-FC68-492B-8B95-69CA27A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861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Executive Overview</a:t>
            </a:r>
          </a:p>
        </p:txBody>
      </p:sp>
      <p:cxnSp>
        <p:nvCxnSpPr>
          <p:cNvPr id="33" name="product-rule-0"/>
          <p:cNvCxnSpPr/>
          <p:nvPr/>
        </p:nvCxnSpPr>
        <p:spPr>
          <a:xfrm xmlns:a="http://schemas.openxmlformats.org/drawingml/2006/main">
            <a:off x="1485900" y="413385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9" name="product-index-1">
            <a:extLst xmlns:a="http://schemas.openxmlformats.org/drawingml/2006/main">
              <a:ext uri="{FF2B5EF4-FFF2-40B4-BE49-F238E27FC236}">
                <a16:creationId xmlns:a16="http://schemas.microsoft.com/office/drawing/2014/main" id="{EBF830FF-E4DE-4E0C-9072-A52B69F8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roduct-page-1">
            <a:extLst xmlns:a="http://schemas.openxmlformats.org/drawingml/2006/main">
              <a:ext uri="{FF2B5EF4-FFF2-40B4-BE49-F238E27FC236}">
                <a16:creationId xmlns:a16="http://schemas.microsoft.com/office/drawing/2014/main" id="{BC167A51-2493-4275-B03A-235C4AA6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529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Root Cause &amp; Explainability</a:t>
            </a:r>
          </a:p>
        </p:txBody>
      </p:sp>
      <p:cxnSp>
        <p:nvCxnSpPr>
          <p:cNvPr id="36" name="product-rule-1"/>
          <p:cNvCxnSpPr/>
          <p:nvPr/>
        </p:nvCxnSpPr>
        <p:spPr>
          <a:xfrm xmlns:a="http://schemas.openxmlformats.org/drawingml/2006/main">
            <a:off x="1485900" y="520065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2" name="product-index-2">
            <a:extLst xmlns:a="http://schemas.openxmlformats.org/drawingml/2006/main">
              <a:ext uri="{FF2B5EF4-FFF2-40B4-BE49-F238E27FC236}">
                <a16:creationId xmlns:a16="http://schemas.microsoft.com/office/drawing/2014/main" id="{32B4761E-026D-488B-9A42-FCE986DB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roduct-page-2">
            <a:extLst xmlns:a="http://schemas.openxmlformats.org/drawingml/2006/main">
              <a:ext uri="{FF2B5EF4-FFF2-40B4-BE49-F238E27FC236}">
                <a16:creationId xmlns:a16="http://schemas.microsoft.com/office/drawing/2014/main" id="{DAA49201-0452-461D-8554-51B5EC01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19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Forecast &amp; Risk</a:t>
            </a:r>
          </a:p>
        </p:txBody>
      </p:sp>
      <p:cxnSp>
        <p:nvCxnSpPr>
          <p:cNvPr id="39" name="product-rule-2"/>
          <p:cNvCxnSpPr/>
          <p:nvPr/>
        </p:nvCxnSpPr>
        <p:spPr>
          <a:xfrm xmlns:a="http://schemas.openxmlformats.org/drawingml/2006/main">
            <a:off x="1485900" y="626745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5" name="product-index-3">
            <a:extLst xmlns:a="http://schemas.openxmlformats.org/drawingml/2006/main">
              <a:ext uri="{FF2B5EF4-FFF2-40B4-BE49-F238E27FC236}">
                <a16:creationId xmlns:a16="http://schemas.microsoft.com/office/drawing/2014/main" id="{00D96976-D4CC-4D65-B420-80FBC025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4370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roduct-page-3">
            <a:extLst xmlns:a="http://schemas.openxmlformats.org/drawingml/2006/main">
              <a:ext uri="{FF2B5EF4-FFF2-40B4-BE49-F238E27FC236}">
                <a16:creationId xmlns:a16="http://schemas.microsoft.com/office/drawing/2014/main" id="{568E5AE2-EE32-436A-88F0-35FA6D0A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86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Scenario Lab</a:t>
            </a:r>
          </a:p>
        </p:txBody>
      </p:sp>
      <p:cxnSp>
        <p:nvCxnSpPr>
          <p:cNvPr id="42" name="product-rule-3"/>
          <p:cNvCxnSpPr/>
          <p:nvPr/>
        </p:nvCxnSpPr>
        <p:spPr>
          <a:xfrm xmlns:a="http://schemas.openxmlformats.org/drawingml/2006/main">
            <a:off x="1485900" y="733425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8" name="product-index-4">
            <a:extLst xmlns:a="http://schemas.openxmlformats.org/drawingml/2006/main">
              <a:ext uri="{FF2B5EF4-FFF2-40B4-BE49-F238E27FC236}">
                <a16:creationId xmlns:a16="http://schemas.microsoft.com/office/drawing/2014/main" id="{24741B3C-62D6-4B77-99E1-12FB6F7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roduct-page-4">
            <a:extLst xmlns:a="http://schemas.openxmlformats.org/drawingml/2006/main">
              <a:ext uri="{FF2B5EF4-FFF2-40B4-BE49-F238E27FC236}">
                <a16:creationId xmlns:a16="http://schemas.microsoft.com/office/drawing/2014/main" id="{F17CF344-F140-4841-BCBF-3E810813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7533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Model Reliability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448187ac14a2a"/>
          <a:srcRect xmlns:a="http://schemas.openxmlformats.org/drawingml/2006/main" l="23462" t="0" r="234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3543300"/>
            <a:ext cx="4381500" cy="619125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21" name="product-powerbi">
            <a:extLst xmlns:a="http://schemas.openxmlformats.org/drawingml/2006/main">
              <a:ext uri="{FF2B5EF4-FFF2-40B4-BE49-F238E27FC236}">
                <a16:creationId xmlns:a16="http://schemas.microsoft.com/office/drawing/2014/main" id="{801DA8E9-9406-4FF1-A04E-0239F4D8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9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POWER BI</a:t>
            </a:r>
          </a:p>
        </p:txBody>
      </p:sp>
      <p:sp>
        <p:nvSpPr>
          <p:cNvPr id="22" name="product-powerbi-proof">
            <a:extLst xmlns:a="http://schemas.openxmlformats.org/drawingml/2006/main">
              <a:ext uri="{FF2B5EF4-FFF2-40B4-BE49-F238E27FC236}">
                <a16:creationId xmlns:a16="http://schemas.microsoft.com/office/drawing/2014/main" id="{3DFFE398-2209-4AD2-BFFA-486F337B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48900"/>
            <a:ext cx="891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13 tabelas · 26 arquivos verificados · modelo estrela</a:t>
            </a:r>
          </a:p>
        </p:txBody>
      </p:sp>
      <p:cxnSp>
        <p:nvCxnSpPr>
          <p:cNvPr id="48" name="footer-rule-8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4" name="footer-8">
            <a:extLst xmlns:a="http://schemas.openxmlformats.org/drawingml/2006/main">
              <a:ext uri="{FF2B5EF4-FFF2-40B4-BE49-F238E27FC236}">
                <a16:creationId xmlns:a16="http://schemas.microsoft.com/office/drawing/2014/main" id="{485BCCDE-FD69-4E4E-A7AC-C795AFD6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100% sintético · sem controle de máquina</a:t>
            </a:r>
          </a:p>
        </p:txBody>
      </p:sp>
      <p:sp>
        <p:nvSpPr>
          <p:cNvPr id="2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360922B6-36BE-4A83-BCFF-361D755A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29838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9">
            <a:extLst xmlns:a="http://schemas.openxmlformats.org/drawingml/2006/main">
              <a:ext uri="{FF2B5EF4-FFF2-40B4-BE49-F238E27FC236}">
                <a16:creationId xmlns:a16="http://schemas.microsoft.com/office/drawing/2014/main" id="{EC1D63BC-BDD9-4416-8BB8-5466FAC6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52C7C719-083C-456E-A679-9B010E65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38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B318391-4DB9-4666-8D12-A3705990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O limite é parte do produto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014C88DE-F3D5-4910-9C41-01E96077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Confiabilidade também é tornar visível o que o sistema não pode afirmar.</a:t>
            </a:r>
          </a:p>
        </p:txBody>
      </p:sp>
      <p:cxnSp>
        <p:nvCxnSpPr>
          <p:cNvPr id="22" name="header-rule-9"/>
          <p:cNvCxnSpPr/>
          <p:nvPr/>
        </p:nvCxnSpPr>
        <p:spPr>
          <a:xfrm xmlns:a="http://schemas.openxmlformats.org/drawingml/2006/main">
            <a:off x="685800" y="299085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22f6d1d8d4d95"/>
          <a:srcRect xmlns:a="http://schemas.openxmlformats.org/drawingml/2006/main" l="0" t="16524" r="0" b="16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486150"/>
            <a:ext cx="89154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limit-dot-0">
            <a:extLst xmlns:a="http://schemas.openxmlformats.org/drawingml/2006/main">
              <a:ext uri="{FF2B5EF4-FFF2-40B4-BE49-F238E27FC236}">
                <a16:creationId xmlns:a16="http://schemas.microsoft.com/office/drawing/2014/main" id="{1340E1E0-4F68-4279-AA85-1B686F10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4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imit-text-0">
            <a:extLst xmlns:a="http://schemas.openxmlformats.org/drawingml/2006/main">
              <a:ext uri="{FF2B5EF4-FFF2-40B4-BE49-F238E27FC236}">
                <a16:creationId xmlns:a16="http://schemas.microsoft.com/office/drawing/2014/main" id="{4891817F-5694-4578-B849-DC97F37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72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Não demonstra causalidade industrial</a:t>
            </a:r>
          </a:p>
        </p:txBody>
      </p:sp>
      <p:sp>
        <p:nvSpPr>
          <p:cNvPr id="9" name="limit-dot-1">
            <a:extLst xmlns:a="http://schemas.openxmlformats.org/drawingml/2006/main">
              <a:ext uri="{FF2B5EF4-FFF2-40B4-BE49-F238E27FC236}">
                <a16:creationId xmlns:a16="http://schemas.microsoft.com/office/drawing/2014/main" id="{305D7822-F2DF-46D6-8BD8-6602D2DF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mit-text-1">
            <a:extLst xmlns:a="http://schemas.openxmlformats.org/drawingml/2006/main">
              <a:ext uri="{FF2B5EF4-FFF2-40B4-BE49-F238E27FC236}">
                <a16:creationId xmlns:a16="http://schemas.microsoft.com/office/drawing/2014/main" id="{D3AD3E4A-FFAB-4877-ACEA-4FBFD08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583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Não valida conformidade API 5CT</a:t>
            </a:r>
          </a:p>
        </p:txBody>
      </p:sp>
      <p:sp>
        <p:nvSpPr>
          <p:cNvPr id="11" name="limit-dot-2">
            <a:extLst xmlns:a="http://schemas.openxmlformats.org/drawingml/2006/main">
              <a:ext uri="{FF2B5EF4-FFF2-40B4-BE49-F238E27FC236}">
                <a16:creationId xmlns:a16="http://schemas.microsoft.com/office/drawing/2014/main" id="{FEC69F0B-C565-4EF7-8E0B-4DA1FDF2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20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mit-text-2">
            <a:extLst xmlns:a="http://schemas.openxmlformats.org/drawingml/2006/main">
              <a:ext uri="{FF2B5EF4-FFF2-40B4-BE49-F238E27FC236}">
                <a16:creationId xmlns:a16="http://schemas.microsoft.com/office/drawing/2014/main" id="{D5D2BA6F-7D85-4944-B581-D00C38FE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441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Não alega ganho ou ROI de produção</a:t>
            </a:r>
          </a:p>
        </p:txBody>
      </p:sp>
      <p:sp>
        <p:nvSpPr>
          <p:cNvPr id="13" name="limit-dot-3">
            <a:extLst xmlns:a="http://schemas.openxmlformats.org/drawingml/2006/main">
              <a:ext uri="{FF2B5EF4-FFF2-40B4-BE49-F238E27FC236}">
                <a16:creationId xmlns:a16="http://schemas.microsoft.com/office/drawing/2014/main" id="{A0501082-7F39-4E60-973E-BBAE527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06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imit-text-3">
            <a:extLst xmlns:a="http://schemas.openxmlformats.org/drawingml/2006/main">
              <a:ext uri="{FF2B5EF4-FFF2-40B4-BE49-F238E27FC236}">
                <a16:creationId xmlns:a16="http://schemas.microsoft.com/office/drawing/2014/main" id="{0CB92674-1FE1-4518-AEDB-2CC9839F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299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Não envia comandos para equipamentos</a:t>
            </a:r>
          </a:p>
        </p:txBody>
      </p:sp>
      <p:cxnSp>
        <p:nvCxnSpPr>
          <p:cNvPr id="32" name="footer-rule-9"/>
          <p:cNvCxnSpPr/>
          <p:nvPr/>
        </p:nvCxnSpPr>
        <p:spPr>
          <a:xfrm xmlns:a="http://schemas.openxmlformats.org/drawingml/2006/main">
            <a:off x="685800" y="12039600"/>
            <a:ext cx="8915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6" name="footer-9">
            <a:extLst xmlns:a="http://schemas.openxmlformats.org/drawingml/2006/main">
              <a:ext uri="{FF2B5EF4-FFF2-40B4-BE49-F238E27FC236}">
                <a16:creationId xmlns:a16="http://schemas.microsoft.com/office/drawing/2014/main" id="{B3CB2A96-7BEA-469E-B01B-78C16A75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100% sintético · sem controle de máquina</a:t>
            </a:r>
          </a:p>
        </p:txBody>
      </p:sp>
      <p:sp>
        <p:nvSpPr>
          <p:cNvPr id="17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FDB705C5-6FB4-486B-8E36-FD328329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211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549112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4A29BF44-3BDA-4C78-9CBD-C6046E39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STEELFLOW AI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84C9D75-4C20-4B03-ABCF-158C3E2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8915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Explore. Teste.</a:t>
            </a:r>
          </a:p>
          <a:p xmlns:a="http://schemas.openxmlformats.org/drawingml/2006/main">
            <a:pPr algn="l">
              <a:defRPr sz="49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Questione os limites.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B4D2B44C-B7F8-4096-840E-D7E4AEEF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O repositório reúne dados sintéticos reproduzíveis, pipeline temporal, modelos calibrados, otimização restrita, Streamlit e Power BI.</a:t>
            </a:r>
          </a:p>
        </p:txBody>
      </p:sp>
      <p:cxnSp>
        <p:nvCxnSpPr>
          <p:cNvPr id="13" name="close-accent"/>
          <p:cNvCxnSpPr/>
          <p:nvPr/>
        </p:nvCxnSpPr>
        <p:spPr>
          <a:xfrm xmlns:a="http://schemas.openxmlformats.org/drawingml/2006/main">
            <a:off x="685800" y="642937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20CDBF"/>
            </a:solidFill>
            <a:prstDash val="solid"/>
          </a:ln>
        </p:spPr>
      </p:cxnSp>
      <p:sp>
        <p:nvSpPr>
          <p:cNvPr id="5" name="close-url-label">
            <a:extLst xmlns:a="http://schemas.openxmlformats.org/drawingml/2006/main">
              <a:ext uri="{FF2B5EF4-FFF2-40B4-BE49-F238E27FC236}">
                <a16:creationId xmlns:a16="http://schemas.microsoft.com/office/drawing/2014/main" id="{D3A57EAB-876A-4CEA-ABE5-5D9BE11E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CÓDIGO, EVIDÊNCIAS E DOCUMENTAÇÃO</a:t>
            </a:r>
          </a:p>
        </p:txBody>
      </p:sp>
      <p:sp>
        <p:nvSpPr>
          <p:cNvPr id="6" name="close-url">
            <a:extLst xmlns:a="http://schemas.openxmlformats.org/drawingml/2006/main">
              <a:ext uri="{FF2B5EF4-FFF2-40B4-BE49-F238E27FC236}">
                <a16:creationId xmlns:a16="http://schemas.microsoft.com/office/drawing/2014/main" id="{94A5A874-2061-4322-A504-FA6CDFB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29550"/>
            <a:ext cx="891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github.com/bryanleme/steelFlow-ai</a:t>
            </a:r>
          </a:p>
        </p:txBody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8170760B-0AB7-4DE6-98EE-69BF597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67875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Próximo passo responsável: dados autorizados, revisão de processo e validação externa em modo observacional.</a:t>
            </a:r>
          </a:p>
        </p:txBody>
      </p:sp>
      <p:sp>
        <p:nvSpPr>
          <p:cNvPr id="8" name="close-scope">
            <a:extLst xmlns:a="http://schemas.openxmlformats.org/drawingml/2006/main">
              <a:ext uri="{FF2B5EF4-FFF2-40B4-BE49-F238E27FC236}">
                <a16:creationId xmlns:a16="http://schemas.microsoft.com/office/drawing/2014/main" id="{44E43D55-E684-4397-9217-42A4BAE5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68125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C"/>
                </a:solidFill>
                <a:latin typeface="Arial"/>
                <a:ea typeface="Arial"/>
                <a:cs typeface="Arial"/>
              </a:rPr>
              <a:t>100% sintético · sem causalidade industrial · sem controle de máquina</a:t>
            </a:r>
          </a:p>
        </p:txBody>
      </p:sp>
      <p:sp>
        <p:nvSpPr>
          <p:cNvPr id="9" name="close-page">
            <a:extLst xmlns:a="http://schemas.openxmlformats.org/drawingml/2006/main">
              <a:ext uri="{FF2B5EF4-FFF2-40B4-BE49-F238E27FC236}">
                <a16:creationId xmlns:a16="http://schemas.microsoft.com/office/drawing/2014/main" id="{743BA035-DA5C-42C6-9464-2A791F3A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211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1423961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2026-08-18T19:45:51.8290000Z</dcterms:created>
  <dcterms:modified xsi:type="dcterms:W3CDTF">2026-08-18T19:45:51.8290000Z</dcterms:modified>
</coreProperties>
</file>