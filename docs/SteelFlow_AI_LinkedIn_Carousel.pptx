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47869dad644539" /><Relationship Type="http://schemas.openxmlformats.org/officeDocument/2006/relationships/extended-properties" Target="/docProps/app.xml" Id="Rfea2ec3eb20e4b97" /><Relationship Type="http://schemas.openxmlformats.org/officeDocument/2006/relationships/officeDocument" Target="/ppt/presentation.xml" Id="Re4cb7a07c25646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66a3e36a254aed"/>
  </p:sldMasterIdLst>
  <p:notesMasterIdLst>
    <p:notesMasterId xmlns:r="http://schemas.openxmlformats.org/officeDocument/2006/relationships" r:id="Ra63a337227e843ce"/>
  </p:notesMasterIdLst>
  <p:sldIdLst>
    <p:sldId xmlns:r="http://schemas.openxmlformats.org/officeDocument/2006/relationships" id="256" r:id="Rb84656718e1c4394"/>
    <p:sldId xmlns:r="http://schemas.openxmlformats.org/officeDocument/2006/relationships" id="257" r:id="R384c7f98936c4175"/>
    <p:sldId xmlns:r="http://schemas.openxmlformats.org/officeDocument/2006/relationships" id="258" r:id="R912b159c0a094cc1"/>
    <p:sldId xmlns:r="http://schemas.openxmlformats.org/officeDocument/2006/relationships" id="259" r:id="R69dd126753444f51"/>
    <p:sldId xmlns:r="http://schemas.openxmlformats.org/officeDocument/2006/relationships" id="260" r:id="R4a649cca10bc4389"/>
  </p:sldIdLst>
  <p:sldSz cx="10287000" cy="128587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104aa2db6b4865" /><Relationship Type="http://schemas.openxmlformats.org/officeDocument/2006/relationships/slideMaster" Target="/ppt/slideMasters/slideMaster1.xml" Id="R2166a3e36a254aed" /><Relationship Type="http://schemas.openxmlformats.org/officeDocument/2006/relationships/notesMaster" Target="/ppt/notesMasters/notesMaster1.xml" Id="Ra63a337227e843ce" /><Relationship Type="http://schemas.openxmlformats.org/officeDocument/2006/relationships/presProps" Target="/ppt/presProps.xml" Id="R729020d3c2204084" /><Relationship Type="http://schemas.openxmlformats.org/officeDocument/2006/relationships/tableStyles" Target="/ppt/tableStyles.xml" Id="R6813d7f9623546e3" /><Relationship Type="http://schemas.openxmlformats.org/officeDocument/2006/relationships/slide" Target="/ppt/slides/slide1.xml" Id="Rb84656718e1c4394" /><Relationship Type="http://schemas.openxmlformats.org/officeDocument/2006/relationships/slide" Target="/ppt/slides/slide2.xml" Id="R384c7f98936c4175" /><Relationship Type="http://schemas.openxmlformats.org/officeDocument/2006/relationships/slide" Target="/ppt/slides/slide3.xml" Id="R912b159c0a094cc1" /><Relationship Type="http://schemas.openxmlformats.org/officeDocument/2006/relationships/slide" Target="/ppt/slides/slide4.xml" Id="R69dd126753444f51" /><Relationship Type="http://schemas.openxmlformats.org/officeDocument/2006/relationships/slide" Target="/ppt/slides/slide5.xml" Id="R4a649cca10bc43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9ac242c96d48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780c2b9a294c91" /><Relationship Type="http://schemas.openxmlformats.org/officeDocument/2006/relationships/notesMaster" Target="/ppt/notesMasters/notesMaster1.xml" Id="R38cdd950ab034e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fa5981b7134d64" /><Relationship Type="http://schemas.openxmlformats.org/officeDocument/2006/relationships/notesMaster" Target="/ppt/notesMasters/notesMaster1.xml" Id="Raa88060fc4e443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21b1b5b8964ac4" /><Relationship Type="http://schemas.openxmlformats.org/officeDocument/2006/relationships/notesMaster" Target="/ppt/notesMasters/notesMaster1.xml" Id="Rb858c621adac49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cb319460b114b2f" /><Relationship Type="http://schemas.openxmlformats.org/officeDocument/2006/relationships/notesMaster" Target="/ppt/notesMasters/notesMaster1.xml" Id="R9cfe975c1e9a4c8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9cc7bbbe3b47c8" /><Relationship Type="http://schemas.openxmlformats.org/officeDocument/2006/relationships/notesMaster" Target="/ppt/notesMasters/notesMaster1.xml" Id="R54790a4a9c3b4f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docs/images/phase7/executive-overview.png</a:t>
            </a:r>
          </a:p>
          <a:p xmlns:a="http://schemas.openxmlformats.org/drawingml/2006/main">
            <a:r>
              <a:t>- docs/CASE_STUDY.md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artifacts/samples/phase_7_product_summary.json</a:t>
            </a:r>
          </a:p>
          <a:p xmlns:a="http://schemas.openxmlformats.org/drawingml/2006/main">
            <a:r>
              <a:t>- docs/images/phase7/root-cause-explainability.png</a:t>
            </a:r>
          </a:p>
          <a:p xmlns:a="http://schemas.openxmlformats.org/drawingml/2006/main">
            <a:r>
              <a:t>- powerbi/README.md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artifacts/samples/phase_5_modeling_summaries.json</a:t>
            </a:r>
          </a:p>
          <a:p xmlns:a="http://schemas.openxmlformats.org/drawingml/2006/main">
            <a:r>
              <a:t>- docs/images/phase7/forecast-risk.png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artifacts/samples/phase_6_optimization_summaries.json</a:t>
            </a:r>
          </a:p>
          <a:p xmlns:a="http://schemas.openxmlformats.org/drawingml/2006/main">
            <a:r>
              <a:t>- docs/images/phase7/scenario-lab.png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docs/CASE_STUDY.md</a:t>
            </a:r>
          </a:p>
          <a:p xmlns:a="http://schemas.openxmlformats.org/drawingml/2006/main">
            <a:r>
              <a:t>- https://github.com/bryanleme/steelFlow-ai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bc061d379946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b5e8c76bde4637" /><Relationship Type="http://schemas.openxmlformats.org/officeDocument/2006/relationships/slideLayout" Target="/ppt/slideLayouts/slideLayout1.xml" Id="R99ee016e78544b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ee016e78544b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98ca20b414935" /><Relationship Type="http://schemas.openxmlformats.org/officeDocument/2006/relationships/image" Target="/ppt/media/image.png" Id="R906f4f4016474c1f" /><Relationship Type="http://schemas.openxmlformats.org/officeDocument/2006/relationships/notesSlide" Target="/ppt/notesSlides/notesSlide1.xml" Id="Rf06940dc1b4145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b3371e697e433a" /><Relationship Type="http://schemas.openxmlformats.org/officeDocument/2006/relationships/image" Target="/ppt/media/image2.png" Id="R4b8c7e6cab9c4c70" /><Relationship Type="http://schemas.openxmlformats.org/officeDocument/2006/relationships/notesSlide" Target="/ppt/notesSlides/notesSlide2.xml" Id="R653e5c12199940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1863ff83b41c1" /><Relationship Type="http://schemas.openxmlformats.org/officeDocument/2006/relationships/image" Target="/ppt/media/image3.png" Id="Rcf32bc9ce250446f" /><Relationship Type="http://schemas.openxmlformats.org/officeDocument/2006/relationships/notesSlide" Target="/ppt/notesSlides/notesSlide3.xml" Id="Rcda3a1141e7d4d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2e185d1e24902" /><Relationship Type="http://schemas.openxmlformats.org/officeDocument/2006/relationships/image" Target="/ppt/media/image4.png" Id="Rc76b6684795640e2" /><Relationship Type="http://schemas.openxmlformats.org/officeDocument/2006/relationships/notesSlide" Target="/ppt/notesSlides/notesSlide4.xml" Id="R48a20e7e9c624cc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633797e546402f" /><Relationship Type="http://schemas.openxmlformats.org/officeDocument/2006/relationships/notesSlide" Target="/ppt/notesSlides/notesSlide5.xml" Id="Rfa81ddf96f50469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0C465B4E-C8B9-4601-8397-4D4788D2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CDB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CDBF"/>
                </a:solidFill>
                <a:latin typeface="Arial"/>
                <a:ea typeface="Arial"/>
                <a:cs typeface="Arial"/>
              </a:rPr>
              <a:t>STEELFLOW AI · ANÁLISE DE CENÁRIOS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F3FA4D4-4A83-49F2-BA32-44FE8D80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8915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SteelFlow AI</a:t>
            </a:r>
          </a:p>
        </p:txBody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60C40F44-D399-42CC-8C5C-48B6BD22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8915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para comparar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decisões.</a:t>
            </a:r>
          </a:p>
        </p:txBody>
      </p:sp>
      <p:sp>
        <p:nvSpPr>
          <p:cNvPr id="4" name="cover-body">
            <a:extLst xmlns:a="http://schemas.openxmlformats.org/drawingml/2006/main">
              <a:ext uri="{FF2B5EF4-FFF2-40B4-BE49-F238E27FC236}">
                <a16:creationId xmlns:a16="http://schemas.microsoft.com/office/drawing/2014/main" id="{27726A53-2ADF-4D3C-B1C7-CAB3F014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8382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B7CAD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7CAD8"/>
                </a:solidFill>
                <a:latin typeface="Arial"/>
                <a:ea typeface="Arial"/>
                <a:cs typeface="Arial"/>
              </a:rPr>
              <a:t>Quando um defeito aparece, a plataforma ajuda a trocar tentativa e erro por hipóteses comparáveis.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6f4f4016474c1f"/>
          <a:srcRect xmlns:a="http://schemas.openxmlformats.org/drawingml/2006/main" l="0" t="6553" r="0" b="65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5505450"/>
            <a:ext cx="8915400" cy="5810250"/>
          </a:xfrm>
          <a:prstGeom xmlns:a="http://schemas.openxmlformats.org/drawingml/2006/main" prst="roundRect">
            <a:avLst>
              <a:gd name="adj" fmla="val 1967"/>
            </a:avLst>
          </a:prstGeom>
        </p:spPr>
      </p:pic>
      <p:sp>
        <p:nvSpPr>
          <p:cNvPr id="6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1F88761A-5065-4A5E-995C-2E01823F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39550"/>
            <a:ext cx="891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CDB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CDBF"/>
                </a:solidFill>
                <a:latin typeface="Arial"/>
                <a:ea typeface="Arial"/>
                <a:cs typeface="Arial"/>
              </a:rPr>
              <a:t>PROTÓTIPO OFFLINE · DADOS 100% SINTÉTICOS</a:t>
            </a:r>
          </a:p>
        </p:txBody>
      </p:sp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144107F0-0DDF-4C51-A2BB-C6D9A75C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211050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8296A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296A5"/>
                </a:solidFill>
                <a:latin typeface="Arial"/>
                <a:ea typeface="Arial"/>
                <a:cs typeface="Arial"/>
              </a:rPr>
              <a:t>01/05</a:t>
            </a:r>
          </a:p>
        </p:txBody>
      </p:sp>
    </p:spTree>
    <p:extLst>
      <p:ext uri="{BB962C8B-B14F-4D97-AF65-F5344CB8AC3E}">
        <p14:creationId xmlns:p14="http://schemas.microsoft.com/office/powerpoint/2010/main" val="16627004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kicker-8">
            <a:extLst xmlns:a="http://schemas.openxmlformats.org/drawingml/2006/main">
              <a:ext uri="{FF2B5EF4-FFF2-40B4-BE49-F238E27FC236}">
                <a16:creationId xmlns:a16="http://schemas.microsoft.com/office/drawing/2014/main" id="{13323388-F758-47C3-802D-1ACEDC76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 PLATAFORMA</a:t>
            </a:r>
          </a:p>
        </p:txBody>
      </p:sp>
      <p:sp>
        <p:nvSpPr>
          <p:cNvPr id="2" name="page-8">
            <a:extLst xmlns:a="http://schemas.openxmlformats.org/drawingml/2006/main">
              <a:ext uri="{FF2B5EF4-FFF2-40B4-BE49-F238E27FC236}">
                <a16:creationId xmlns:a16="http://schemas.microsoft.com/office/drawing/2014/main" id="{085CC0FB-9DA9-4DB1-948A-14D31DFD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3875"/>
            <a:ext cx="895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360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8EAD528E-F504-44D4-97EC-A4ED4177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915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05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Cinco páginas. Uma jornada de decisão.</a:t>
            </a:r>
          </a:p>
        </p:txBody>
      </p:sp>
      <p:sp>
        <p:nvSpPr>
          <p:cNvPr id="4" name="subtitle-8">
            <a:extLst xmlns:a="http://schemas.openxmlformats.org/drawingml/2006/main">
              <a:ext uri="{FF2B5EF4-FFF2-40B4-BE49-F238E27FC236}">
                <a16:creationId xmlns:a16="http://schemas.microsoft.com/office/drawing/2014/main" id="{8F1FE70D-04EE-4DA5-B441-1A4F36CD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8915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Veja tendências, influências, riscos, cenários e confiabilidade.</a:t>
            </a:r>
          </a:p>
        </p:txBody>
      </p:sp>
      <p:cxnSp>
        <p:nvCxnSpPr>
          <p:cNvPr id="126" name="header-rule-8"/>
          <p:cNvCxnSpPr/>
          <p:nvPr/>
        </p:nvCxnSpPr>
        <p:spPr>
          <a:xfrm xmlns:a="http://schemas.openxmlformats.org/drawingml/2006/main">
            <a:off x="685800" y="299085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6" name="product-index-0">
            <a:extLst xmlns:a="http://schemas.openxmlformats.org/drawingml/2006/main">
              <a:ext uri="{FF2B5EF4-FFF2-40B4-BE49-F238E27FC236}">
                <a16:creationId xmlns:a16="http://schemas.microsoft.com/office/drawing/2014/main" id="{8C5E6F41-3061-44E2-A958-2141A1F6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roduct-page-0">
            <a:extLst xmlns:a="http://schemas.openxmlformats.org/drawingml/2006/main">
              <a:ext uri="{FF2B5EF4-FFF2-40B4-BE49-F238E27FC236}">
                <a16:creationId xmlns:a16="http://schemas.microsoft.com/office/drawing/2014/main" id="{E620A6BE-FC68-492B-8B95-69CA27A7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861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Visão geral</a:t>
            </a:r>
          </a:p>
        </p:txBody>
      </p:sp>
      <p:cxnSp>
        <p:nvCxnSpPr>
          <p:cNvPr id="129" name="product-rule-0"/>
          <p:cNvCxnSpPr/>
          <p:nvPr/>
        </p:nvCxnSpPr>
        <p:spPr>
          <a:xfrm xmlns:a="http://schemas.openxmlformats.org/drawingml/2006/main">
            <a:off x="1485900" y="4133850"/>
            <a:ext cx="3429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9" name="product-index-1">
            <a:extLst xmlns:a="http://schemas.openxmlformats.org/drawingml/2006/main">
              <a:ext uri="{FF2B5EF4-FFF2-40B4-BE49-F238E27FC236}">
                <a16:creationId xmlns:a16="http://schemas.microsoft.com/office/drawing/2014/main" id="{EBF830FF-E4DE-4E0C-9072-A52B69F8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product-page-1">
            <a:extLst xmlns:a="http://schemas.openxmlformats.org/drawingml/2006/main">
              <a:ext uri="{FF2B5EF4-FFF2-40B4-BE49-F238E27FC236}">
                <a16:creationId xmlns:a16="http://schemas.microsoft.com/office/drawing/2014/main" id="{BC167A51-2493-4275-B03A-235C4AA6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5529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O que influenciou</a:t>
            </a:r>
          </a:p>
        </p:txBody>
      </p:sp>
      <p:cxnSp>
        <p:nvCxnSpPr>
          <p:cNvPr id="132" name="product-rule-1"/>
          <p:cNvCxnSpPr/>
          <p:nvPr/>
        </p:nvCxnSpPr>
        <p:spPr>
          <a:xfrm xmlns:a="http://schemas.openxmlformats.org/drawingml/2006/main">
            <a:off x="1485900" y="5200650"/>
            <a:ext cx="3429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2" name="product-index-2">
            <a:extLst xmlns:a="http://schemas.openxmlformats.org/drawingml/2006/main">
              <a:ext uri="{FF2B5EF4-FFF2-40B4-BE49-F238E27FC236}">
                <a16:creationId xmlns:a16="http://schemas.microsoft.com/office/drawing/2014/main" id="{32B4761E-026D-488B-9A42-FCE986DB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product-page-2">
            <a:extLst xmlns:a="http://schemas.openxmlformats.org/drawingml/2006/main">
              <a:ext uri="{FF2B5EF4-FFF2-40B4-BE49-F238E27FC236}">
                <a16:creationId xmlns:a16="http://schemas.microsoft.com/office/drawing/2014/main" id="{DAA49201-0452-461D-8554-51B5EC01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6197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Previsão e risco</a:t>
            </a:r>
          </a:p>
        </p:txBody>
      </p:sp>
      <p:cxnSp>
        <p:nvCxnSpPr>
          <p:cNvPr id="135" name="product-rule-2"/>
          <p:cNvCxnSpPr/>
          <p:nvPr/>
        </p:nvCxnSpPr>
        <p:spPr>
          <a:xfrm xmlns:a="http://schemas.openxmlformats.org/drawingml/2006/main">
            <a:off x="1485900" y="6267450"/>
            <a:ext cx="3429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5" name="product-index-3">
            <a:extLst xmlns:a="http://schemas.openxmlformats.org/drawingml/2006/main">
              <a:ext uri="{FF2B5EF4-FFF2-40B4-BE49-F238E27FC236}">
                <a16:creationId xmlns:a16="http://schemas.microsoft.com/office/drawing/2014/main" id="{00D96976-D4CC-4D65-B420-80FBC025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4370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product-page-3">
            <a:extLst xmlns:a="http://schemas.openxmlformats.org/drawingml/2006/main">
              <a:ext uri="{FF2B5EF4-FFF2-40B4-BE49-F238E27FC236}">
                <a16:creationId xmlns:a16="http://schemas.microsoft.com/office/drawing/2014/main" id="{568E5AE2-EE32-436A-88F0-35FA6D0A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6865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Teste de cenários</a:t>
            </a:r>
          </a:p>
        </p:txBody>
      </p:sp>
      <p:cxnSp>
        <p:nvCxnSpPr>
          <p:cNvPr id="138" name="product-rule-3"/>
          <p:cNvCxnSpPr/>
          <p:nvPr/>
        </p:nvCxnSpPr>
        <p:spPr>
          <a:xfrm xmlns:a="http://schemas.openxmlformats.org/drawingml/2006/main">
            <a:off x="1485900" y="7334250"/>
            <a:ext cx="3429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8" name="product-index-4">
            <a:extLst xmlns:a="http://schemas.openxmlformats.org/drawingml/2006/main">
              <a:ext uri="{FF2B5EF4-FFF2-40B4-BE49-F238E27FC236}">
                <a16:creationId xmlns:a16="http://schemas.microsoft.com/office/drawing/2014/main" id="{24741B3C-62D6-4B77-99E1-12FB6F7A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9" name="product-page-4">
            <a:extLst xmlns:a="http://schemas.openxmlformats.org/drawingml/2006/main">
              <a:ext uri="{FF2B5EF4-FFF2-40B4-BE49-F238E27FC236}">
                <a16:creationId xmlns:a16="http://schemas.microsoft.com/office/drawing/2014/main" id="{F17CF344-F140-4841-BCBF-3E8108130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77533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Confiabilidade do modelo</a:t>
            </a:r>
          </a:p>
        </p:txBody>
      </p:sp>
      <p:pic>
        <p:nvPicPr>
          <p:cNvPr id="1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8c7e6cab9c4c70"/>
          <a:srcRect xmlns:a="http://schemas.openxmlformats.org/drawingml/2006/main" l="23462" t="0" r="2346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19700" y="3543300"/>
            <a:ext cx="4381500" cy="6191250"/>
          </a:xfrm>
          <a:prstGeom xmlns:a="http://schemas.openxmlformats.org/drawingml/2006/main" prst="roundRect">
            <a:avLst>
              <a:gd name="adj" fmla="val 2609"/>
            </a:avLst>
          </a:prstGeom>
        </p:spPr>
      </p:pic>
      <p:sp>
        <p:nvSpPr>
          <p:cNvPr id="21" name="product-powerbi">
            <a:extLst xmlns:a="http://schemas.openxmlformats.org/drawingml/2006/main">
              <a:ext uri="{FF2B5EF4-FFF2-40B4-BE49-F238E27FC236}">
                <a16:creationId xmlns:a16="http://schemas.microsoft.com/office/drawing/2014/main" id="{801DA8E9-9406-4FF1-A04E-0239F4D8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8298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1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EXPLORAÇÃO COMPLEMENTAR</a:t>
            </a:r>
          </a:p>
        </p:txBody>
      </p:sp>
      <p:sp>
        <p:nvSpPr>
          <p:cNvPr id="22" name="product-powerbi-proof">
            <a:extLst xmlns:a="http://schemas.openxmlformats.org/drawingml/2006/main">
              <a:ext uri="{FF2B5EF4-FFF2-40B4-BE49-F238E27FC236}">
                <a16:creationId xmlns:a16="http://schemas.microsoft.com/office/drawing/2014/main" id="{3DFFE398-2209-4AD2-BFFA-486F337B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48900"/>
            <a:ext cx="8915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Power BI com modelo estrela e arquivos verificados</a:t>
            </a:r>
          </a:p>
        </p:txBody>
      </p:sp>
      <p:cxnSp>
        <p:nvCxnSpPr>
          <p:cNvPr id="144" name="footer-rule-8"/>
          <p:cNvCxnSpPr/>
          <p:nvPr/>
        </p:nvCxnSpPr>
        <p:spPr>
          <a:xfrm xmlns:a="http://schemas.openxmlformats.org/drawingml/2006/main">
            <a:off x="685800" y="1203960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24" name="footer-8">
            <a:extLst xmlns:a="http://schemas.openxmlformats.org/drawingml/2006/main">
              <a:ext uri="{FF2B5EF4-FFF2-40B4-BE49-F238E27FC236}">
                <a16:creationId xmlns:a16="http://schemas.microsoft.com/office/drawing/2014/main" id="{485BCCDE-FD69-4E4E-A7AC-C795AFD6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110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100% sintético · sem controle de máquina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360922B6-36BE-4A83-BCFF-361D755A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2110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2298386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kicker-6">
            <a:extLst xmlns:a="http://schemas.openxmlformats.org/drawingml/2006/main">
              <a:ext uri="{FF2B5EF4-FFF2-40B4-BE49-F238E27FC236}">
                <a16:creationId xmlns:a16="http://schemas.microsoft.com/office/drawing/2014/main" id="{659F945D-A006-43A3-AB1A-75F5D7E4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PREVISÃO E RISCO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0B509CEE-2A28-444C-B744-1F7E6C3F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3875"/>
            <a:ext cx="895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360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5492D9AD-FB96-4C42-8E81-83EF7CDA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915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A previsão mostra valor, risco e faixa</a:t>
            </a:r>
          </a:p>
        </p:txBody>
      </p:sp>
      <p:sp>
        <p:nvSpPr>
          <p:cNvPr id="4" name="subtitle-6">
            <a:extLst xmlns:a="http://schemas.openxmlformats.org/drawingml/2006/main">
              <a:ext uri="{FF2B5EF4-FFF2-40B4-BE49-F238E27FC236}">
                <a16:creationId xmlns:a16="http://schemas.microsoft.com/office/drawing/2014/main" id="{B93B64D3-FB90-4719-855E-5414F94A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8915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Não entrega apenas um número. Mostra a incerteza.</a:t>
            </a:r>
          </a:p>
        </p:txBody>
      </p:sp>
      <p:cxnSp>
        <p:nvCxnSpPr>
          <p:cNvPr id="81" name="header-rule-6"/>
          <p:cNvCxnSpPr/>
          <p:nvPr/>
        </p:nvCxnSpPr>
        <p:spPr>
          <a:xfrm xmlns:a="http://schemas.openxmlformats.org/drawingml/2006/main">
            <a:off x="685800" y="299085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6" name="coverage-panel">
            <a:extLst xmlns:a="http://schemas.openxmlformats.org/drawingml/2006/main">
              <a:ext uri="{FF2B5EF4-FFF2-40B4-BE49-F238E27FC236}">
                <a16:creationId xmlns:a16="http://schemas.microsoft.com/office/drawing/2014/main" id="{EC299AF2-E080-435B-A00E-BD55179F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42291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DDF3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overage-value">
            <a:extLst xmlns:a="http://schemas.openxmlformats.org/drawingml/2006/main">
              <a:ext uri="{FF2B5EF4-FFF2-40B4-BE49-F238E27FC236}">
                <a16:creationId xmlns:a16="http://schemas.microsoft.com/office/drawing/2014/main" id="{D6CF3F07-787A-47F9-9146-0C2605BF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43350"/>
            <a:ext cx="3695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P10–P90</a:t>
            </a:r>
          </a:p>
        </p:txBody>
      </p:sp>
      <p:sp>
        <p:nvSpPr>
          <p:cNvPr id="8" name="coverage-label">
            <a:extLst xmlns:a="http://schemas.openxmlformats.org/drawingml/2006/main">
              <a:ext uri="{FF2B5EF4-FFF2-40B4-BE49-F238E27FC236}">
                <a16:creationId xmlns:a16="http://schemas.microsoft.com/office/drawing/2014/main" id="{C58CB391-84C5-4855-8331-BB1F00EE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86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faixa provável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para cada previsão</a:t>
            </a:r>
          </a:p>
        </p:txBody>
      </p:sp>
      <p:sp>
        <p:nvSpPr>
          <p:cNvPr id="9" name="calibration-panel">
            <a:extLst xmlns:a="http://schemas.openxmlformats.org/drawingml/2006/main">
              <a:ext uri="{FF2B5EF4-FFF2-40B4-BE49-F238E27FC236}">
                <a16:creationId xmlns:a16="http://schemas.microsoft.com/office/drawing/2014/main" id="{A53F84A9-C583-45A2-A10D-ED2808C1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543300"/>
            <a:ext cx="42291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alibration-value">
            <a:extLst xmlns:a="http://schemas.openxmlformats.org/drawingml/2006/main">
              <a:ext uri="{FF2B5EF4-FFF2-40B4-BE49-F238E27FC236}">
                <a16:creationId xmlns:a16="http://schemas.microsoft.com/office/drawing/2014/main" id="{35C904CA-1018-4383-AC1B-D5DF900E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943350"/>
            <a:ext cx="3695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0CDB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0CDBF"/>
                </a:solidFill>
                <a:latin typeface="Arial"/>
                <a:ea typeface="Arial"/>
                <a:cs typeface="Arial"/>
              </a:rPr>
              <a:t>4 modelos</a:t>
            </a:r>
          </a:p>
        </p:txBody>
      </p:sp>
      <p:sp>
        <p:nvSpPr>
          <p:cNvPr id="11" name="calibration-label">
            <a:extLst xmlns:a="http://schemas.openxmlformats.org/drawingml/2006/main">
              <a:ext uri="{FF2B5EF4-FFF2-40B4-BE49-F238E27FC236}">
                <a16:creationId xmlns:a16="http://schemas.microsoft.com/office/drawing/2014/main" id="{9808A3DB-6589-4E66-82B5-8ACE9437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686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de risco passaram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por calibração</a:t>
            </a:r>
          </a:p>
        </p:txBody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32bc9ce250446f"/>
          <a:srcRect xmlns:a="http://schemas.openxmlformats.org/drawingml/2006/main" l="0" t="13675" r="0" b="13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5905500"/>
            <a:ext cx="8915400" cy="4857750"/>
          </a:xfrm>
          <a:prstGeom xmlns:a="http://schemas.openxmlformats.org/drawingml/2006/main" prst="roundRect">
            <a:avLst>
              <a:gd name="adj" fmla="val 2353"/>
            </a:avLst>
          </a:prstGeom>
        </p:spPr>
      </p:pic>
      <p:sp>
        <p:nvSpPr>
          <p:cNvPr id="13" name="uncertainty-caption">
            <a:extLst xmlns:a="http://schemas.openxmlformats.org/drawingml/2006/main">
              <a:ext uri="{FF2B5EF4-FFF2-40B4-BE49-F238E27FC236}">
                <a16:creationId xmlns:a16="http://schemas.microsoft.com/office/drawing/2014/main" id="{27BF9B8F-FE17-46E5-A26F-BC14C8E9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125200"/>
            <a:ext cx="891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Produtividade, energia, qualidade e parada em contexto.</a:t>
            </a:r>
          </a:p>
        </p:txBody>
      </p:sp>
      <p:cxnSp>
        <p:nvCxnSpPr>
          <p:cNvPr id="90" name="footer-rule-6"/>
          <p:cNvCxnSpPr/>
          <p:nvPr/>
        </p:nvCxnSpPr>
        <p:spPr>
          <a:xfrm xmlns:a="http://schemas.openxmlformats.org/drawingml/2006/main">
            <a:off x="685800" y="1203960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5" name="footer-6">
            <a:extLst xmlns:a="http://schemas.openxmlformats.org/drawingml/2006/main">
              <a:ext uri="{FF2B5EF4-FFF2-40B4-BE49-F238E27FC236}">
                <a16:creationId xmlns:a16="http://schemas.microsoft.com/office/drawing/2014/main" id="{4C805FD8-4599-4ADF-B429-241AE781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110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100% sintético · sem controle de máquina</a:t>
            </a:r>
          </a:p>
        </p:txBody>
      </p:sp>
      <p:sp>
        <p:nvSpPr>
          <p:cNvPr id="16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2013CB81-4EEF-4A4F-908A-E38429DD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2110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</p:spTree>
    <p:extLst>
      <p:ext uri="{BB962C8B-B14F-4D97-AF65-F5344CB8AC3E}">
        <p14:creationId xmlns:p14="http://schemas.microsoft.com/office/powerpoint/2010/main" val="9980342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kicker-7">
            <a:extLst xmlns:a="http://schemas.openxmlformats.org/drawingml/2006/main">
              <a:ext uri="{FF2B5EF4-FFF2-40B4-BE49-F238E27FC236}">
                <a16:creationId xmlns:a16="http://schemas.microsoft.com/office/drawing/2014/main" id="{7DD2BC6F-D214-4CBA-88EC-599B1C28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TESTE DE CENÁRIOS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6A092EF0-99DD-4B9B-AA19-12622A4E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3875"/>
            <a:ext cx="895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360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B63F41E9-DCD1-4F71-9BF9-B1341380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915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Mude parâmetros. Compare cenários.</a:t>
            </a:r>
          </a:p>
        </p:txBody>
      </p:sp>
      <p:sp>
        <p:nvSpPr>
          <p:cNvPr id="4" name="subtitle-7">
            <a:extLst xmlns:a="http://schemas.openxmlformats.org/drawingml/2006/main">
              <a:ext uri="{FF2B5EF4-FFF2-40B4-BE49-F238E27FC236}">
                <a16:creationId xmlns:a16="http://schemas.microsoft.com/office/drawing/2014/main" id="{301F72D8-C84C-47AE-B5A3-54F74CA2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8915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A plataforma recalcula resultados e bloqueia hipóteses fora do histórico.</a:t>
            </a:r>
          </a:p>
        </p:txBody>
      </p:sp>
      <p:cxnSp>
        <p:nvCxnSpPr>
          <p:cNvPr id="81" name="header-rule-7"/>
          <p:cNvCxnSpPr/>
          <p:nvPr/>
        </p:nvCxnSpPr>
        <p:spPr>
          <a:xfrm xmlns:a="http://schemas.openxmlformats.org/drawingml/2006/main">
            <a:off x="685800" y="299085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6" name="scenario-stat-0">
            <a:extLst xmlns:a="http://schemas.openxmlformats.org/drawingml/2006/main">
              <a:ext uri="{FF2B5EF4-FFF2-40B4-BE49-F238E27FC236}">
                <a16:creationId xmlns:a16="http://schemas.microsoft.com/office/drawing/2014/main" id="{3874855A-F37C-4BE5-91CD-BFB684E4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scenario-label-0">
            <a:extLst xmlns:a="http://schemas.openxmlformats.org/drawingml/2006/main">
              <a:ext uri="{FF2B5EF4-FFF2-40B4-BE49-F238E27FC236}">
                <a16:creationId xmlns:a16="http://schemas.microsoft.com/office/drawing/2014/main" id="{4B60A1AD-6086-4D18-AA3A-BF02DED9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cenários publicados</a:t>
            </a:r>
          </a:p>
        </p:txBody>
      </p:sp>
      <p:sp>
        <p:nvSpPr>
          <p:cNvPr id="8" name="scenario-stat-1">
            <a:extLst xmlns:a="http://schemas.openxmlformats.org/drawingml/2006/main">
              <a:ext uri="{FF2B5EF4-FFF2-40B4-BE49-F238E27FC236}">
                <a16:creationId xmlns:a16="http://schemas.microsoft.com/office/drawing/2014/main" id="{5D22E322-4953-4C2D-91E9-4402904D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4290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9" name="scenario-label-1">
            <a:extLst xmlns:a="http://schemas.openxmlformats.org/drawingml/2006/main">
              <a:ext uri="{FF2B5EF4-FFF2-40B4-BE49-F238E27FC236}">
                <a16:creationId xmlns:a16="http://schemas.microsoft.com/office/drawing/2014/main" id="{E033F261-4F50-4440-B9EC-5106D37A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171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restrições obrigatórias</a:t>
            </a:r>
          </a:p>
        </p:txBody>
      </p:sp>
      <p:sp>
        <p:nvSpPr>
          <p:cNvPr id="10" name="scenario-stat-2">
            <a:extLst xmlns:a="http://schemas.openxmlformats.org/drawingml/2006/main">
              <a:ext uri="{FF2B5EF4-FFF2-40B4-BE49-F238E27FC236}">
                <a16:creationId xmlns:a16="http://schemas.microsoft.com/office/drawing/2014/main" id="{7DD40CCC-8CAC-4B1A-A91B-89AD34FD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290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55B6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E55B68"/>
                </a:solidFill>
                <a:latin typeface="Arial"/>
                <a:ea typeface="Arial"/>
                <a:cs typeface="Arial"/>
              </a:rPr>
              <a:t>3/3</a:t>
            </a:r>
          </a:p>
        </p:txBody>
      </p:sp>
      <p:sp>
        <p:nvSpPr>
          <p:cNvPr id="11" name="scenario-label-2">
            <a:extLst xmlns:a="http://schemas.openxmlformats.org/drawingml/2006/main">
              <a:ext uri="{FF2B5EF4-FFF2-40B4-BE49-F238E27FC236}">
                <a16:creationId xmlns:a16="http://schemas.microsoft.com/office/drawing/2014/main" id="{A76B89E4-D43B-41CE-8CB1-6E6DA87F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171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fora do histórico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recusadas</a:t>
            </a:r>
          </a:p>
        </p:txBody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b6684795640e2"/>
          <a:srcRect xmlns:a="http://schemas.openxmlformats.org/drawingml/2006/main" l="0" t="10114" r="0" b="101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5219700"/>
            <a:ext cx="8915400" cy="5334000"/>
          </a:xfrm>
          <a:prstGeom xmlns:a="http://schemas.openxmlformats.org/drawingml/2006/main" prst="roundRect">
            <a:avLst>
              <a:gd name="adj" fmla="val 2143"/>
            </a:avLst>
          </a:prstGeom>
        </p:spPr>
      </p:pic>
      <p:sp>
        <p:nvSpPr>
          <p:cNvPr id="13" name="scenario-close">
            <a:extLst xmlns:a="http://schemas.openxmlformats.org/drawingml/2006/main">
              <a:ext uri="{FF2B5EF4-FFF2-40B4-BE49-F238E27FC236}">
                <a16:creationId xmlns:a16="http://schemas.microsoft.com/office/drawing/2014/main" id="{77D68B23-F225-4FB9-AD55-5D8FE637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0"/>
            <a:ext cx="8915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Probabilidades + P10/P50/P90 + decisão humana.</a:t>
            </a:r>
          </a:p>
        </p:txBody>
      </p:sp>
      <p:cxnSp>
        <p:nvCxnSpPr>
          <p:cNvPr id="90" name="footer-rule-7"/>
          <p:cNvCxnSpPr/>
          <p:nvPr/>
        </p:nvCxnSpPr>
        <p:spPr>
          <a:xfrm xmlns:a="http://schemas.openxmlformats.org/drawingml/2006/main">
            <a:off x="685800" y="1203960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5" name="footer-7">
            <a:extLst xmlns:a="http://schemas.openxmlformats.org/drawingml/2006/main">
              <a:ext uri="{FF2B5EF4-FFF2-40B4-BE49-F238E27FC236}">
                <a16:creationId xmlns:a16="http://schemas.microsoft.com/office/drawing/2014/main" id="{879FB160-5E7C-4A0A-BE16-8BA84408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110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100% sintético · sem controle de máquina</a:t>
            </a:r>
          </a:p>
        </p:txBody>
      </p:sp>
      <p:sp>
        <p:nvSpPr>
          <p:cNvPr id="16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6CA91ED8-7E0E-433D-9AFA-55771DA2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2110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4/5</a:t>
            </a:r>
          </a:p>
        </p:txBody>
      </p:sp>
    </p:spTree>
    <p:extLst>
      <p:ext uri="{BB962C8B-B14F-4D97-AF65-F5344CB8AC3E}">
        <p14:creationId xmlns:p14="http://schemas.microsoft.com/office/powerpoint/2010/main" val="6798120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4A29BF44-3BDA-4C78-9CBD-C6046E39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8915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STEELFLOW AI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584C9D75-4C20-4B03-ABCF-158C3E28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891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Explore a</a:t>
            </a:r>
          </a:p>
          <a:p xmlns:a="http://schemas.openxmlformats.org/drawingml/2006/main">
            <a:pPr algn="l">
              <a:buNone/>
              <a:defRPr sz="49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plataforma.</a:t>
            </a:r>
          </a:p>
        </p:txBody>
      </p:sp>
      <p:sp>
        <p:nvSpPr>
          <p:cNvPr id="3" name="close-body">
            <a:extLst xmlns:a="http://schemas.openxmlformats.org/drawingml/2006/main">
              <a:ext uri="{FF2B5EF4-FFF2-40B4-BE49-F238E27FC236}">
                <a16:creationId xmlns:a16="http://schemas.microsoft.com/office/drawing/2014/main" id="{B4D2B44C-B7F8-4096-840E-D7E4AEEF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Veja as telas, teste o fluxo e questione os limites.</a:t>
            </a:r>
          </a:p>
        </p:txBody>
      </p:sp>
      <p:cxnSp>
        <p:nvCxnSpPr>
          <p:cNvPr id="29" name="close-accent"/>
          <p:cNvCxnSpPr/>
          <p:nvPr/>
        </p:nvCxnSpPr>
        <p:spPr>
          <a:xfrm xmlns:a="http://schemas.openxmlformats.org/drawingml/2006/main">
            <a:off x="685800" y="6429375"/>
            <a:ext cx="28575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20CDBF"/>
            </a:solidFill>
            <a:prstDash val="solid"/>
          </a:ln>
        </p:spPr>
      </p:cxnSp>
      <p:sp>
        <p:nvSpPr>
          <p:cNvPr id="5" name="close-url-label">
            <a:extLst xmlns:a="http://schemas.openxmlformats.org/drawingml/2006/main">
              <a:ext uri="{FF2B5EF4-FFF2-40B4-BE49-F238E27FC236}">
                <a16:creationId xmlns:a16="http://schemas.microsoft.com/office/drawing/2014/main" id="{D3A57EAB-876A-4CEA-ABE5-5D9BE11E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0"/>
            <a:ext cx="891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CÓDIGO, DOCUMENTAÇÃO E DEMO</a:t>
            </a:r>
          </a:p>
        </p:txBody>
      </p:sp>
      <p:sp>
        <p:nvSpPr>
          <p:cNvPr id="6" name="close-url">
            <a:extLst xmlns:a="http://schemas.openxmlformats.org/drawingml/2006/main">
              <a:ext uri="{FF2B5EF4-FFF2-40B4-BE49-F238E27FC236}">
                <a16:creationId xmlns:a16="http://schemas.microsoft.com/office/drawing/2014/main" id="{94A5A874-2061-4322-A504-FA6CDFB4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29550"/>
            <a:ext cx="891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github.com/bryanleme/steelFlow-ai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8170760B-0AB7-4DE6-98EE-69BF5979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667875"/>
            <a:ext cx="857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Qual hipótese você testaria primeiro?</a:t>
            </a:r>
          </a:p>
        </p:txBody>
      </p:sp>
      <p:sp>
        <p:nvSpPr>
          <p:cNvPr id="8" name="close-scope">
            <a:extLst xmlns:a="http://schemas.openxmlformats.org/drawingml/2006/main">
              <a:ext uri="{FF2B5EF4-FFF2-40B4-BE49-F238E27FC236}">
                <a16:creationId xmlns:a16="http://schemas.microsoft.com/office/drawing/2014/main" id="{44E43D55-E684-4397-9217-42A4BAE5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68125"/>
            <a:ext cx="891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100% sintético · sem controle de máquina · não demonstra causalidade industrial</a:t>
            </a:r>
          </a:p>
        </p:txBody>
      </p:sp>
      <p:sp>
        <p:nvSpPr>
          <p:cNvPr id="9" name="close-page">
            <a:extLst xmlns:a="http://schemas.openxmlformats.org/drawingml/2006/main">
              <a:ext uri="{FF2B5EF4-FFF2-40B4-BE49-F238E27FC236}">
                <a16:creationId xmlns:a16="http://schemas.microsoft.com/office/drawing/2014/main" id="{743BA035-DA5C-42C6-9464-2A791F3A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211050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14239618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2026-08-18T22:27:14.4440000Z</dcterms:created>
  <dcterms:modified xsi:type="dcterms:W3CDTF">2026-08-18T22:27:14.4440000Z</dcterms:modified>
</coreProperties>
</file>