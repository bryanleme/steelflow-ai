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4dfe01019a4762" /><Relationship Type="http://schemas.openxmlformats.org/officeDocument/2006/relationships/extended-properties" Target="/docProps/app.xml" Id="R0837bb8b65fb4ed2" /><Relationship Type="http://schemas.openxmlformats.org/officeDocument/2006/relationships/officeDocument" Target="/ppt/presentation.xml" Id="R6d8e4b552e3442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12ffe5fb644446"/>
  </p:sldMasterIdLst>
  <p:notesMasterIdLst>
    <p:notesMasterId xmlns:r="http://schemas.openxmlformats.org/officeDocument/2006/relationships" r:id="Rbbfd5dfacad3439b"/>
  </p:notesMasterIdLst>
  <p:sldIdLst>
    <p:sldId xmlns:r="http://schemas.openxmlformats.org/officeDocument/2006/relationships" id="256" r:id="Ra49649c3a4254c61"/>
    <p:sldId xmlns:r="http://schemas.openxmlformats.org/officeDocument/2006/relationships" id="257" r:id="R1651487f1db54f33"/>
    <p:sldId xmlns:r="http://schemas.openxmlformats.org/officeDocument/2006/relationships" id="258" r:id="R616ec72d6e6e4881"/>
    <p:sldId xmlns:r="http://schemas.openxmlformats.org/officeDocument/2006/relationships" id="259" r:id="Re5ae1f15ad114bd1"/>
    <p:sldId xmlns:r="http://schemas.openxmlformats.org/officeDocument/2006/relationships" id="260" r:id="Rce8c2db0bf9746cf"/>
    <p:sldId xmlns:r="http://schemas.openxmlformats.org/officeDocument/2006/relationships" id="261" r:id="Rc6e8c41d636a48be"/>
    <p:sldId xmlns:r="http://schemas.openxmlformats.org/officeDocument/2006/relationships" id="262" r:id="R6a804487f9984630"/>
    <p:sldId xmlns:r="http://schemas.openxmlformats.org/officeDocument/2006/relationships" id="263" r:id="Rcbce00b70dfe456e"/>
    <p:sldId xmlns:r="http://schemas.openxmlformats.org/officeDocument/2006/relationships" id="264" r:id="R8794a5356c204074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2442f4e4da493c" /><Relationship Type="http://schemas.openxmlformats.org/officeDocument/2006/relationships/slideMaster" Target="/ppt/slideMasters/slideMaster1.xml" Id="R9f12ffe5fb644446" /><Relationship Type="http://schemas.openxmlformats.org/officeDocument/2006/relationships/notesMaster" Target="/ppt/notesMasters/notesMaster1.xml" Id="Rbbfd5dfacad3439b" /><Relationship Type="http://schemas.openxmlformats.org/officeDocument/2006/relationships/presProps" Target="/ppt/presProps.xml" Id="R2e9aaafea3bd42ef" /><Relationship Type="http://schemas.openxmlformats.org/officeDocument/2006/relationships/tableStyles" Target="/ppt/tableStyles.xml" Id="R1955e33973c94a7b" /><Relationship Type="http://schemas.openxmlformats.org/officeDocument/2006/relationships/slide" Target="/ppt/slides/slide1.xml" Id="Ra49649c3a4254c61" /><Relationship Type="http://schemas.openxmlformats.org/officeDocument/2006/relationships/slide" Target="/ppt/slides/slide2.xml" Id="R1651487f1db54f33" /><Relationship Type="http://schemas.openxmlformats.org/officeDocument/2006/relationships/slide" Target="/ppt/slides/slide3.xml" Id="R616ec72d6e6e4881" /><Relationship Type="http://schemas.openxmlformats.org/officeDocument/2006/relationships/slide" Target="/ppt/slides/slide4.xml" Id="Re5ae1f15ad114bd1" /><Relationship Type="http://schemas.openxmlformats.org/officeDocument/2006/relationships/slide" Target="/ppt/slides/slide5.xml" Id="Rce8c2db0bf9746cf" /><Relationship Type="http://schemas.openxmlformats.org/officeDocument/2006/relationships/slide" Target="/ppt/slides/slide6.xml" Id="Rc6e8c41d636a48be" /><Relationship Type="http://schemas.openxmlformats.org/officeDocument/2006/relationships/slide" Target="/ppt/slides/slide7.xml" Id="R6a804487f9984630" /><Relationship Type="http://schemas.openxmlformats.org/officeDocument/2006/relationships/slide" Target="/ppt/slides/slide8.xml" Id="Rcbce00b70dfe456e" /><Relationship Type="http://schemas.openxmlformats.org/officeDocument/2006/relationships/slide" Target="/ppt/slides/slide9.xml" Id="R8794a5356c2040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fdc49bc1d74f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f165160f204053" /><Relationship Type="http://schemas.openxmlformats.org/officeDocument/2006/relationships/notesMaster" Target="/ppt/notesMasters/notesMaster1.xml" Id="R3b93845a769f49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31a62b846d43ba" /><Relationship Type="http://schemas.openxmlformats.org/officeDocument/2006/relationships/notesMaster" Target="/ppt/notesMasters/notesMaster1.xml" Id="R0b9817d3c8f740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61b4ba2cc74a92" /><Relationship Type="http://schemas.openxmlformats.org/officeDocument/2006/relationships/notesMaster" Target="/ppt/notesMasters/notesMaster1.xml" Id="R043f083d033d43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aa3de30b934e03" /><Relationship Type="http://schemas.openxmlformats.org/officeDocument/2006/relationships/notesMaster" Target="/ppt/notesMasters/notesMaster1.xml" Id="R14c45593290149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a0b99fe9784b14" /><Relationship Type="http://schemas.openxmlformats.org/officeDocument/2006/relationships/notesMaster" Target="/ppt/notesMasters/notesMaster1.xml" Id="R18e74ca42b444f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bdc6894d9f4c16" /><Relationship Type="http://schemas.openxmlformats.org/officeDocument/2006/relationships/notesMaster" Target="/ppt/notesMasters/notesMaster1.xml" Id="R0051255af0c540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9c3d98bcf4d8f" /><Relationship Type="http://schemas.openxmlformats.org/officeDocument/2006/relationships/notesMaster" Target="/ppt/notesMasters/notesMaster1.xml" Id="R2d31febfa5b640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0e9e7c9e4e4280" /><Relationship Type="http://schemas.openxmlformats.org/officeDocument/2006/relationships/notesMaster" Target="/ppt/notesMasters/notesMaster1.xml" Id="R73defb3eec174d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ec0de5d107402e" /><Relationship Type="http://schemas.openxmlformats.org/officeDocument/2006/relationships/notesMaster" Target="/ppt/notesMasters/notesMaster1.xml" Id="Rf8b3eabf889941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docs/images/phase7/executive-overview.png</a:t>
            </a:r>
          </a:p>
          <a:p xmlns:a="http://schemas.openxmlformats.org/drawingml/2006/main">
            <a:r>
              <a:t>- docs/CASE_STUDY.md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docs/CASE_STUDY.md</a:t>
            </a:r>
          </a:p>
          <a:p xmlns:a="http://schemas.openxmlformats.org/drawingml/2006/main">
            <a:r>
              <a:t>- docs/DIAGNOSTIC_REPORT.md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docs/FEATURE_CONTRACT.md</a:t>
            </a:r>
          </a:p>
          <a:p xmlns:a="http://schemas.openxmlformats.org/drawingml/2006/main">
            <a:r>
              <a:t>- docs/SCENARIO_CONTRACT.md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artifacts/samples/phase_5_modeling_summaries.json</a:t>
            </a:r>
          </a:p>
          <a:p xmlns:a="http://schemas.openxmlformats.org/drawingml/2006/main">
            <a:r>
              <a:t>- docs/MODELING_REPORT.md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artifacts/samples/phase_5_modeling_summaries.json</a:t>
            </a:r>
          </a:p>
          <a:p xmlns:a="http://schemas.openxmlformats.org/drawingml/2006/main">
            <a:r>
              <a:t>- docs/images/phase7/forecast-risk.png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artifacts/samples/phase_6_optimization_summaries.json</a:t>
            </a:r>
          </a:p>
          <a:p xmlns:a="http://schemas.openxmlformats.org/drawingml/2006/main">
            <a:r>
              <a:t>- docs/images/phase7/scenario-lab.png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artifacts/samples/phase_7_product_summary.json</a:t>
            </a:r>
          </a:p>
          <a:p xmlns:a="http://schemas.openxmlformats.org/drawingml/2006/main">
            <a:r>
              <a:t>- docs/images/phase7/root-cause-explainability.png</a:t>
            </a:r>
          </a:p>
          <a:p xmlns:a="http://schemas.openxmlformats.org/drawingml/2006/main">
            <a:r>
              <a:t>- powerbi/README.md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docs/MODEL_CARD.md</a:t>
            </a:r>
          </a:p>
          <a:p xmlns:a="http://schemas.openxmlformats.org/drawingml/2006/main">
            <a:r>
              <a:t>- docs/images/phase7/model-reliability.png</a:t>
            </a:r>
          </a:p>
          <a:p xmlns:a="http://schemas.openxmlformats.org/drawingml/2006/main">
            <a:r>
              <a:t>- docs/FINAL_ACCEPTANCE_REPORT.md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docs/CASE_STUDY.md</a:t>
            </a:r>
          </a:p>
          <a:p xmlns:a="http://schemas.openxmlformats.org/drawingml/2006/main">
            <a:r>
              <a:t>- https://github.com/bryanleme/steelFlow-ai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b74b6c336045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ff94d77d694d2c" /><Relationship Type="http://schemas.openxmlformats.org/officeDocument/2006/relationships/slideLayout" Target="/ppt/slideLayouts/slideLayout1.xml" Id="Rc6a3e9da5db841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a3e9da5db841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bedda64224583" /><Relationship Type="http://schemas.openxmlformats.org/officeDocument/2006/relationships/image" Target="/ppt/media/image.png" Id="R229ca358aa3b448e" /><Relationship Type="http://schemas.openxmlformats.org/officeDocument/2006/relationships/notesSlide" Target="/ppt/notesSlides/notesSlide1.xml" Id="Rbf7c1492f7f94a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47675fb87471b" /><Relationship Type="http://schemas.openxmlformats.org/officeDocument/2006/relationships/notesSlide" Target="/ppt/notesSlides/notesSlide2.xml" Id="Rccb4760f819349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d078d112a4e8a" /><Relationship Type="http://schemas.openxmlformats.org/officeDocument/2006/relationships/notesSlide" Target="/ppt/notesSlides/notesSlide3.xml" Id="R48aa2e7415004c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b50dade52491c" /><Relationship Type="http://schemas.openxmlformats.org/officeDocument/2006/relationships/chart" Target="/ppt/slides/charts/chart1.xml" Id="R3c146db518334c8e" /><Relationship Type="http://schemas.openxmlformats.org/officeDocument/2006/relationships/notesSlide" Target="/ppt/notesSlides/notesSlide4.xml" Id="R1e1d762b31df47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eaef036374cac" /><Relationship Type="http://schemas.openxmlformats.org/officeDocument/2006/relationships/image" Target="/ppt/media/image2.png" Id="Rc491025bdd9249f6" /><Relationship Type="http://schemas.openxmlformats.org/officeDocument/2006/relationships/notesSlide" Target="/ppt/notesSlides/notesSlide5.xml" Id="R00e838b583e14c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1f3e5550649ae" /><Relationship Type="http://schemas.openxmlformats.org/officeDocument/2006/relationships/image" Target="/ppt/media/image3.png" Id="Rbf21a78ae5704727" /><Relationship Type="http://schemas.openxmlformats.org/officeDocument/2006/relationships/notesSlide" Target="/ppt/notesSlides/notesSlide6.xml" Id="R7aebd2b704ef43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3c90a0033e46d0" /><Relationship Type="http://schemas.openxmlformats.org/officeDocument/2006/relationships/image" Target="/ppt/media/image4.png" Id="Ree96a32e8c5c4e9a" /><Relationship Type="http://schemas.openxmlformats.org/officeDocument/2006/relationships/notesSlide" Target="/ppt/notesSlides/notesSlide7.xml" Id="Ra499db7fef0144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c9d3ee16942b3" /><Relationship Type="http://schemas.openxmlformats.org/officeDocument/2006/relationships/image" Target="/ppt/media/image5.png" Id="Rc0f669b2a8e3496e" /><Relationship Type="http://schemas.openxmlformats.org/officeDocument/2006/relationships/notesSlide" Target="/ppt/notesSlides/notesSlide8.xml" Id="R7e2ba533db8841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f94ecbac6b4419" /><Relationship Type="http://schemas.openxmlformats.org/officeDocument/2006/relationships/notesSlide" Target="/ppt/notesSlides/notesSlide9.xml" Id="R0c491201e26542c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Melhora relativa do MAE de TBH (%)</c:v>
          </c:tx>
          <c:dPt>
            <c:idx val="0"/>
            <c:invertIfNegative val="0"/>
            <c:spPr>
              <a:solidFill xmlns:a="http://schemas.openxmlformats.org/drawingml/2006/main">
                <a:srgbClr val="FFB34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 b="1">
                        <a:solidFill>
                          <a:srgbClr val="07111C"/>
                        </a:solidFill>
                      </a:rPr>
                      <a:t>5,00%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 b="1">
                      <a:solidFill>
                        <a:srgbClr val="07111C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 b="1">
                        <a:solidFill>
                          <a:srgbClr val="07111C"/>
                        </a:solidFill>
                      </a:rPr>
                      <a:t>0,98%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 b="1">
                      <a:solidFill>
                        <a:srgbClr val="07111C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2"/>
              <c:pt idx="0">
                <c:v>Meta</c:v>
              </c:pt>
              <c:pt idx="1">
                <c:v>Observado</c:v>
              </c:pt>
            </c:strLit>
          </c:cat>
          <c:val>
            <c:numLit>
              <c:formatCode>0.00"%"</c:formatCode>
              <c:ptCount val="2"/>
              <c:pt idx="0">
                <c:v>5</c:v>
              </c:pt>
              <c:pt idx="1">
                <c:v>0.9836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 b="1">
                  <a:solidFill>
                    <a:srgbClr val="07111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7111C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EF1F4"/>
              </a:solidFill>
              <a:prstDash val="solid"/>
            </a:ln>
          </c:spPr>
        </c:majorGridlines>
        <c:numFmt formatCode="0.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06D"/>
                </a:solidFill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C465B4E-C8B9-4601-8397-4D4788D2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DADOS · ML · DECISÃO RESPONSÁVEL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F3FA4D4-4A83-49F2-BA32-44FE8D80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8915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SteelFlow AI</a:t>
            </a:r>
          </a:p>
        </p:txBody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60C40F44-D399-42CC-8C5C-48B6BD22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8915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Quando o modelo não sabe,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 para.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27726A53-2ADF-4D3C-B1C7-CAB3F014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38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B7CAD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7CAD8"/>
                </a:solidFill>
                <a:latin typeface="Arial"/>
                <a:ea typeface="Arial"/>
                <a:cs typeface="Arial"/>
              </a:rPr>
              <a:t>Um projeto que prevê, explica e recusa cenários sem evidência suficiente.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9ca358aa3b448e"/>
          <a:srcRect xmlns:a="http://schemas.openxmlformats.org/drawingml/2006/main" l="0" t="6553" r="0" b="65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505450"/>
            <a:ext cx="8915400" cy="5810250"/>
          </a:xfrm>
          <a:prstGeom xmlns:a="http://schemas.openxmlformats.org/drawingml/2006/main" prst="roundRect">
            <a:avLst>
              <a:gd name="adj" fmla="val 1967"/>
            </a:avLst>
          </a:prstGeom>
        </p:spPr>
      </p:pic>
      <p:sp>
        <p:nvSpPr>
          <p:cNvPr id="6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1F88761A-5065-4A5E-995C-2E01823F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39550"/>
            <a:ext cx="891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PROTÓTIPO OFFLINE · DADOS 100% SINTÉTICOS</a:t>
            </a:r>
          </a:p>
        </p:txBody>
      </p:sp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144107F0-0DDF-4C51-A2BB-C6D9A75C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2110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8296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296A5"/>
                </a:solidFill>
                <a:latin typeface="Arial"/>
                <a:ea typeface="Arial"/>
                <a:cs typeface="Arial"/>
              </a:rPr>
              <a:t>01/09</a:t>
            </a:r>
          </a:p>
        </p:txBody>
      </p:sp>
    </p:spTree>
    <p:extLst>
      <p:ext uri="{BB962C8B-B14F-4D97-AF65-F5344CB8AC3E}">
        <p14:creationId xmlns:p14="http://schemas.microsoft.com/office/powerpoint/2010/main" val="16627004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2">
            <a:extLst xmlns:a="http://schemas.openxmlformats.org/drawingml/2006/main">
              <a:ext uri="{FF2B5EF4-FFF2-40B4-BE49-F238E27FC236}">
                <a16:creationId xmlns:a16="http://schemas.microsoft.com/office/drawing/2014/main" id="{BA9A8F56-D461-4607-BB4F-C3D3C8EB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 DESAFIO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4ABDDD71-3B89-49B3-872E-9CA06312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F075446A-463B-4036-B5A9-3226ABEC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Mais dados não bastam para decidir</a:t>
            </a:r>
          </a:p>
        </p:txBody>
      </p:sp>
      <p:sp>
        <p:nvSpPr>
          <p:cNvPr id="4" name="subtitle-2">
            <a:extLst xmlns:a="http://schemas.openxmlformats.org/drawingml/2006/main">
              <a:ext uri="{FF2B5EF4-FFF2-40B4-BE49-F238E27FC236}">
                <a16:creationId xmlns:a16="http://schemas.microsoft.com/office/drawing/2014/main" id="{E144F5FD-A789-4B8D-A95B-E0F5C36C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Mix, desgaste e tempo mudam o contexto.</a:t>
            </a:r>
          </a:p>
        </p:txBody>
      </p:sp>
      <p:cxnSp>
        <p:nvCxnSpPr>
          <p:cNvPr id="67" name="header-rule-2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problem-number-01">
            <a:extLst xmlns:a="http://schemas.openxmlformats.org/drawingml/2006/main">
              <a:ext uri="{FF2B5EF4-FFF2-40B4-BE49-F238E27FC236}">
                <a16:creationId xmlns:a16="http://schemas.microsoft.com/office/drawing/2014/main" id="{B72D0046-2552-46AF-8628-19B3C3EC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cxnSp>
        <p:nvCxnSpPr>
          <p:cNvPr id="69" name="problem-rule-01"/>
          <p:cNvCxnSpPr/>
          <p:nvPr/>
        </p:nvCxnSpPr>
        <p:spPr>
          <a:xfrm xmlns:a="http://schemas.openxmlformats.org/drawingml/2006/main">
            <a:off x="685800" y="45148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8" name="problem-title-01">
            <a:extLst xmlns:a="http://schemas.openxmlformats.org/drawingml/2006/main">
              <a:ext uri="{FF2B5EF4-FFF2-40B4-BE49-F238E27FC236}">
                <a16:creationId xmlns:a16="http://schemas.microsoft.com/office/drawing/2014/main" id="{CF11D9C9-7961-48E9-8B50-27B4A1BB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O produto muda</a:t>
            </a:r>
          </a:p>
        </p:txBody>
      </p:sp>
      <p:sp>
        <p:nvSpPr>
          <p:cNvPr id="9" name="problem-body-01">
            <a:extLst xmlns:a="http://schemas.openxmlformats.org/drawingml/2006/main">
              <a:ext uri="{FF2B5EF4-FFF2-40B4-BE49-F238E27FC236}">
                <a16:creationId xmlns:a16="http://schemas.microsoft.com/office/drawing/2014/main" id="{AEA788D1-B479-48B9-B9C9-5DB2BE63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Cada família começa de um ponto diferente.</a:t>
            </a:r>
          </a:p>
        </p:txBody>
      </p:sp>
      <p:sp>
        <p:nvSpPr>
          <p:cNvPr id="10" name="problem-number-02">
            <a:extLst xmlns:a="http://schemas.openxmlformats.org/drawingml/2006/main">
              <a:ext uri="{FF2B5EF4-FFF2-40B4-BE49-F238E27FC236}">
                <a16:creationId xmlns:a16="http://schemas.microsoft.com/office/drawing/2014/main" id="{C4207BA3-E5C4-40C8-B50B-1BF18B8C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147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cxnSp>
        <p:nvCxnSpPr>
          <p:cNvPr id="73" name="problem-rule-02"/>
          <p:cNvCxnSpPr/>
          <p:nvPr/>
        </p:nvCxnSpPr>
        <p:spPr>
          <a:xfrm xmlns:a="http://schemas.openxmlformats.org/drawingml/2006/main">
            <a:off x="3752850" y="45148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2" name="problem-title-02">
            <a:extLst xmlns:a="http://schemas.openxmlformats.org/drawingml/2006/main">
              <a:ext uri="{FF2B5EF4-FFF2-40B4-BE49-F238E27FC236}">
                <a16:creationId xmlns:a16="http://schemas.microsoft.com/office/drawing/2014/main" id="{A0A5A631-0016-433F-BC1C-008A53C2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8577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O ativo desgasta</a:t>
            </a:r>
          </a:p>
        </p:txBody>
      </p:sp>
      <p:sp>
        <p:nvSpPr>
          <p:cNvPr id="13" name="problem-body-02">
            <a:extLst xmlns:a="http://schemas.openxmlformats.org/drawingml/2006/main">
              <a:ext uri="{FF2B5EF4-FFF2-40B4-BE49-F238E27FC236}">
                <a16:creationId xmlns:a16="http://schemas.microsoft.com/office/drawing/2014/main" id="{FAC69334-AE3E-4832-A9B7-68990A7E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00075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O que funcionava ontem pode sair do limite hoje.</a:t>
            </a:r>
          </a:p>
        </p:txBody>
      </p:sp>
      <p:sp>
        <p:nvSpPr>
          <p:cNvPr id="14" name="problem-number-03">
            <a:extLst xmlns:a="http://schemas.openxmlformats.org/drawingml/2006/main">
              <a:ext uri="{FF2B5EF4-FFF2-40B4-BE49-F238E27FC236}">
                <a16:creationId xmlns:a16="http://schemas.microsoft.com/office/drawing/2014/main" id="{6E63EB39-B08A-466C-A3B9-F9368C76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147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cxnSp>
        <p:nvCxnSpPr>
          <p:cNvPr id="77" name="problem-rule-03"/>
          <p:cNvCxnSpPr/>
          <p:nvPr/>
        </p:nvCxnSpPr>
        <p:spPr>
          <a:xfrm xmlns:a="http://schemas.openxmlformats.org/drawingml/2006/main">
            <a:off x="6819900" y="45148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6" name="problem-title-03">
            <a:extLst xmlns:a="http://schemas.openxmlformats.org/drawingml/2006/main">
              <a:ext uri="{FF2B5EF4-FFF2-40B4-BE49-F238E27FC236}">
                <a16:creationId xmlns:a16="http://schemas.microsoft.com/office/drawing/2014/main" id="{EF799815-9048-4402-8AFA-EB58A79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57750"/>
            <a:ext cx="238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A média engana</a:t>
            </a:r>
          </a:p>
        </p:txBody>
      </p:sp>
      <p:sp>
        <p:nvSpPr>
          <p:cNvPr id="17" name="problem-body-03">
            <a:extLst xmlns:a="http://schemas.openxmlformats.org/drawingml/2006/main">
              <a:ext uri="{FF2B5EF4-FFF2-40B4-BE49-F238E27FC236}">
                <a16:creationId xmlns:a16="http://schemas.microsoft.com/office/drawing/2014/main" id="{66A08EB7-13C6-42D2-AC96-67721FA4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00075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Juntar tudo esconde diferenças importantes.</a:t>
            </a:r>
          </a:p>
        </p:txBody>
      </p:sp>
      <p:sp>
        <p:nvSpPr>
          <p:cNvPr id="18" name="problem-close">
            <a:extLst xmlns:a="http://schemas.openxmlformats.org/drawingml/2006/main">
              <a:ext uri="{FF2B5EF4-FFF2-40B4-BE49-F238E27FC236}">
                <a16:creationId xmlns:a16="http://schemas.microsoft.com/office/drawing/2014/main" id="{753BC7FF-7C10-45F2-8437-6355534A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0"/>
            <a:ext cx="8915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Antes de recomendar, o sistema precisa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entender o contexto.</a:t>
            </a:r>
          </a:p>
        </p:txBody>
      </p:sp>
      <p:cxnSp>
        <p:nvCxnSpPr>
          <p:cNvPr id="81" name="problem-accent"/>
          <p:cNvCxnSpPr/>
          <p:nvPr/>
        </p:nvCxnSpPr>
        <p:spPr>
          <a:xfrm xmlns:a="http://schemas.openxmlformats.org/drawingml/2006/main">
            <a:off x="685800" y="10763250"/>
            <a:ext cx="2476500" cy="0"/>
          </a:xfrm>
          <a:prstGeom xmlns:a="http://schemas.openxmlformats.org/drawingml/2006/main" prst="straightConnector1">
            <a:avLst/>
          </a:prstGeom>
          <a:ln xmlns:a="http://schemas.openxmlformats.org/drawingml/2006/main" w="76200">
            <a:solidFill>
              <a:srgbClr val="20CDBF"/>
            </a:solidFill>
            <a:prstDash val="solid"/>
          </a:ln>
        </p:spPr>
      </p:cxnSp>
      <p:cxnSp>
        <p:nvCxnSpPr>
          <p:cNvPr id="82" name="footer-rule-2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21" name="footer-2">
            <a:extLst xmlns:a="http://schemas.openxmlformats.org/drawingml/2006/main">
              <a:ext uri="{FF2B5EF4-FFF2-40B4-BE49-F238E27FC236}">
                <a16:creationId xmlns:a16="http://schemas.microsoft.com/office/drawing/2014/main" id="{BB46D2F3-5DFF-436C-91FC-BECC7756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22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93D73AC7-7AD0-4576-8A27-E7935F45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11073079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-4">
            <a:extLst xmlns:a="http://schemas.openxmlformats.org/drawingml/2006/main">
              <a:ext uri="{FF2B5EF4-FFF2-40B4-BE49-F238E27FC236}">
                <a16:creationId xmlns:a16="http://schemas.microsoft.com/office/drawing/2014/main" id="{EDD52721-5E7E-4DF1-AEDE-59D1E96E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COMO FUNCIONA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3AB7F21C-31FD-4A63-8313-DB8BACA0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00505D56-F7D8-4458-B71A-983F70C6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Do dado à decisão em quatro passos</a:t>
            </a:r>
          </a:p>
        </p:txBody>
      </p:sp>
      <p:sp>
        <p:nvSpPr>
          <p:cNvPr id="4" name="subtitle-4">
            <a:extLst xmlns:a="http://schemas.openxmlformats.org/drawingml/2006/main">
              <a:ext uri="{FF2B5EF4-FFF2-40B4-BE49-F238E27FC236}">
                <a16:creationId xmlns:a16="http://schemas.microsoft.com/office/drawing/2014/main" id="{8B4488E1-94C0-4570-BEDA-595A45E1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Sem usar informação do futuro.</a:t>
            </a:r>
          </a:p>
        </p:txBody>
      </p:sp>
      <p:cxnSp>
        <p:nvCxnSpPr>
          <p:cNvPr id="82" name="header-rule-4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cxnSp>
        <p:nvCxnSpPr>
          <p:cNvPr id="83" name="architecture-connector-0"/>
          <p:cNvCxnSpPr/>
          <p:nvPr/>
        </p:nvCxnSpPr>
        <p:spPr>
          <a:xfrm xmlns:a="http://schemas.openxmlformats.org/drawingml/2006/main">
            <a:off x="1676400" y="506730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BCC4CC"/>
            </a:solidFill>
            <a:prstDash val="solid"/>
          </a:ln>
        </p:spPr>
      </p:cxnSp>
      <p:cxnSp>
        <p:nvCxnSpPr>
          <p:cNvPr id="84" name="architecture-connector-1"/>
          <p:cNvCxnSpPr/>
          <p:nvPr/>
        </p:nvCxnSpPr>
        <p:spPr>
          <a:xfrm xmlns:a="http://schemas.openxmlformats.org/drawingml/2006/main">
            <a:off x="1676400" y="702945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BCC4CC"/>
            </a:solidFill>
            <a:prstDash val="solid"/>
          </a:ln>
        </p:spPr>
      </p:cxnSp>
      <p:cxnSp>
        <p:nvCxnSpPr>
          <p:cNvPr id="85" name="architecture-connector-2"/>
          <p:cNvCxnSpPr/>
          <p:nvPr/>
        </p:nvCxnSpPr>
        <p:spPr>
          <a:xfrm xmlns:a="http://schemas.openxmlformats.org/drawingml/2006/main">
            <a:off x="1676400" y="899160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BCC4CC"/>
            </a:solidFill>
            <a:prstDash val="solid"/>
          </a:ln>
        </p:spPr>
      </p:cxnSp>
      <p:sp>
        <p:nvSpPr>
          <p:cNvPr id="9" name="architecture-node-0">
            <a:extLst xmlns:a="http://schemas.openxmlformats.org/drawingml/2006/main">
              <a:ext uri="{FF2B5EF4-FFF2-40B4-BE49-F238E27FC236}">
                <a16:creationId xmlns:a16="http://schemas.microsoft.com/office/drawing/2014/main" id="{809E894A-E895-4BE4-99BA-04106EDB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89154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rchitecture-label-0">
            <a:extLst xmlns:a="http://schemas.openxmlformats.org/drawingml/2006/main">
              <a:ext uri="{FF2B5EF4-FFF2-40B4-BE49-F238E27FC236}">
                <a16:creationId xmlns:a16="http://schemas.microsoft.com/office/drawing/2014/main" id="{E9A456B3-EDAF-496A-842F-132499E9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290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 · REGISTRAR</a:t>
            </a:r>
          </a:p>
        </p:txBody>
      </p:sp>
      <p:sp>
        <p:nvSpPr>
          <p:cNvPr id="11" name="architecture-title-0">
            <a:extLst xmlns:a="http://schemas.openxmlformats.org/drawingml/2006/main">
              <a:ext uri="{FF2B5EF4-FFF2-40B4-BE49-F238E27FC236}">
                <a16:creationId xmlns:a16="http://schemas.microsoft.com/office/drawing/2014/main" id="{AE7C1909-0EF2-4C52-9241-72E69DE9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291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Gerar os dados</a:t>
            </a:r>
          </a:p>
        </p:txBody>
      </p:sp>
      <p:sp>
        <p:nvSpPr>
          <p:cNvPr id="12" name="architecture-body-0">
            <a:extLst xmlns:a="http://schemas.openxmlformats.org/drawingml/2006/main">
              <a:ext uri="{FF2B5EF4-FFF2-40B4-BE49-F238E27FC236}">
                <a16:creationId xmlns:a16="http://schemas.microsoft.com/office/drawing/2014/main" id="{2443E20E-D37D-4C08-9820-E0CDAA86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248150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IDs, versões e hashes</a:t>
            </a:r>
          </a:p>
        </p:txBody>
      </p:sp>
      <p:sp>
        <p:nvSpPr>
          <p:cNvPr id="13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FBA93CBE-036B-42B7-806D-397F0C34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89154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rchitecture-label-1">
            <a:extLst xmlns:a="http://schemas.openxmlformats.org/drawingml/2006/main">
              <a:ext uri="{FF2B5EF4-FFF2-40B4-BE49-F238E27FC236}">
                <a16:creationId xmlns:a16="http://schemas.microsoft.com/office/drawing/2014/main" id="{191F405A-4BBF-474E-939F-BE7C4E1C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912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 · ORGANIZAR</a:t>
            </a:r>
          </a:p>
        </p:txBody>
      </p:sp>
      <p:sp>
        <p:nvSpPr>
          <p:cNvPr id="15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3137CB2C-176E-4F6C-A774-495799E6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1912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Preparar a análise</a:t>
            </a:r>
          </a:p>
        </p:txBody>
      </p:sp>
      <p:sp>
        <p:nvSpPr>
          <p:cNvPr id="16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1CA2F84E-D437-49B1-A04A-85109941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210300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KPIs comparáveis e rastreáveis</a:t>
            </a:r>
          </a:p>
        </p:txBody>
      </p:sp>
      <p:sp>
        <p:nvSpPr>
          <p:cNvPr id="17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499F244B-526A-458B-BA0F-A69DADFA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67600"/>
            <a:ext cx="89154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rchitecture-label-2">
            <a:extLst xmlns:a="http://schemas.openxmlformats.org/drawingml/2006/main">
              <a:ext uri="{FF2B5EF4-FFF2-40B4-BE49-F238E27FC236}">
                <a16:creationId xmlns:a16="http://schemas.microsoft.com/office/drawing/2014/main" id="{338B6713-54E4-48C3-B08D-94D4ACAB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7533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 · ENTENDER</a:t>
            </a:r>
          </a:p>
        </p:txBody>
      </p:sp>
      <p:sp>
        <p:nvSpPr>
          <p:cNvPr id="19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15507171-AF5E-4A48-B891-1E3C5C77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Prever e explicar</a:t>
            </a:r>
          </a:p>
        </p:txBody>
      </p:sp>
      <p:sp>
        <p:nvSpPr>
          <p:cNvPr id="20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8522248E-326F-4065-A609-497C1EA7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8172450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Faixas de incerteza + SHAP</a:t>
            </a:r>
          </a:p>
        </p:txBody>
      </p:sp>
      <p:sp>
        <p:nvSpPr>
          <p:cNvPr id="21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30C0A199-4DE7-4AC1-862B-9E8942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429750"/>
            <a:ext cx="89154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DDF3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rchitecture-label-3">
            <a:extLst xmlns:a="http://schemas.openxmlformats.org/drawingml/2006/main">
              <a:ext uri="{FF2B5EF4-FFF2-40B4-BE49-F238E27FC236}">
                <a16:creationId xmlns:a16="http://schemas.microsoft.com/office/drawing/2014/main" id="{8390117C-492F-4BBF-B516-9654EF40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 · DECIDIR</a:t>
            </a:r>
          </a:p>
        </p:txBody>
      </p:sp>
      <p:sp>
        <p:nvSpPr>
          <p:cNvPr id="23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1EB2DEA6-769B-4633-BDDD-A8C81E63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1155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Testar e revisar</a:t>
            </a:r>
          </a:p>
        </p:txBody>
      </p:sp>
      <p:sp>
        <p:nvSpPr>
          <p:cNvPr id="24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B7FC4A07-4684-448B-AAC5-85ACD6D0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0134600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Cenários seguros + decisão humana</a:t>
            </a:r>
          </a:p>
        </p:txBody>
      </p:sp>
      <p:cxnSp>
        <p:nvCxnSpPr>
          <p:cNvPr id="102" name="footer-rule-4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26" name="footer-4">
            <a:extLst xmlns:a="http://schemas.openxmlformats.org/drawingml/2006/main">
              <a:ext uri="{FF2B5EF4-FFF2-40B4-BE49-F238E27FC236}">
                <a16:creationId xmlns:a16="http://schemas.microsoft.com/office/drawing/2014/main" id="{652DA731-9400-4D43-8639-1FBE9380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32E3F5F1-82AB-417B-825F-5C1321C8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3/9</a:t>
            </a:r>
          </a:p>
        </p:txBody>
      </p:sp>
    </p:spTree>
    <p:extLst>
      <p:ext uri="{BB962C8B-B14F-4D97-AF65-F5344CB8AC3E}">
        <p14:creationId xmlns:p14="http://schemas.microsoft.com/office/powerpoint/2010/main" val="1425504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kicker-5">
            <a:extLst xmlns:a="http://schemas.openxmlformats.org/drawingml/2006/main">
              <a:ext uri="{FF2B5EF4-FFF2-40B4-BE49-F238E27FC236}">
                <a16:creationId xmlns:a16="http://schemas.microsoft.com/office/drawing/2014/main" id="{16479E2D-EC67-46B6-B504-0D78D4DD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DESCOBERTA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C8DA4592-4AA8-4286-AA86-79A57C187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C7A5FB37-2FB3-42B3-89E9-BD03B03B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O modelo não bateu a meta</a:t>
            </a:r>
          </a:p>
        </p:txBody>
      </p:sp>
      <p:sp>
        <p:nvSpPr>
          <p:cNvPr id="4" name="subtitle-5">
            <a:extLst xmlns:a="http://schemas.openxmlformats.org/drawingml/2006/main">
              <a:ext uri="{FF2B5EF4-FFF2-40B4-BE49-F238E27FC236}">
                <a16:creationId xmlns:a16="http://schemas.microsoft.com/office/drawing/2014/main" id="{00368B43-48A8-49D7-8FD2-0BB474F6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Meta: 5%. Resultado: 0,98%. O projeto mostra isso sem esconder.</a:t>
            </a:r>
          </a:p>
        </p:txBody>
      </p:sp>
      <p:cxnSp>
        <p:nvCxnSpPr>
          <p:cNvPr id="39" name="header-rule-5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1143000" y="3619500"/>
          <a:ext xmlns:a="http://schemas.openxmlformats.org/drawingml/2006/main" cx="8001000" cy="5048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146db518334c8e"/>
          </a:graphicData>
        </a:graphic>
      </p:graphicFrame>
      <p:sp>
        <p:nvSpPr>
          <p:cNvPr id="7" name="goal-result">
            <a:extLst xmlns:a="http://schemas.openxmlformats.org/drawingml/2006/main">
              <a:ext uri="{FF2B5EF4-FFF2-40B4-BE49-F238E27FC236}">
                <a16:creationId xmlns:a16="http://schemas.microsoft.com/office/drawing/2014/main" id="{7E45A790-C2D5-431E-A514-608F9BF7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0,98%</a:t>
            </a:r>
          </a:p>
        </p:txBody>
      </p:sp>
      <p:sp>
        <p:nvSpPr>
          <p:cNvPr id="8" name="goal-result-label">
            <a:extLst xmlns:a="http://schemas.openxmlformats.org/drawingml/2006/main">
              <a:ext uri="{FF2B5EF4-FFF2-40B4-BE49-F238E27FC236}">
                <a16:creationId xmlns:a16="http://schemas.microsoft.com/office/drawing/2014/main" id="{D84CA675-496A-4FEE-8117-7B716C78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885825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melhora estimada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contra a melhor baseline</a:t>
            </a:r>
          </a:p>
        </p:txBody>
      </p:sp>
      <p:sp>
        <p:nvSpPr>
          <p:cNvPr id="9" name="goal-conclusion">
            <a:extLst xmlns:a="http://schemas.openxmlformats.org/drawingml/2006/main">
              <a:ext uri="{FF2B5EF4-FFF2-40B4-BE49-F238E27FC236}">
                <a16:creationId xmlns:a16="http://schemas.microsoft.com/office/drawing/2014/main" id="{63A48D6E-2B42-472B-AE0F-71529D20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334625"/>
            <a:ext cx="8915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Transparência também é resultado.</a:t>
            </a:r>
          </a:p>
        </p:txBody>
      </p:sp>
      <p:cxnSp>
        <p:nvCxnSpPr>
          <p:cNvPr id="44" name="footer-rule-5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1" name="footer-5">
            <a:extLst xmlns:a="http://schemas.openxmlformats.org/drawingml/2006/main">
              <a:ext uri="{FF2B5EF4-FFF2-40B4-BE49-F238E27FC236}">
                <a16:creationId xmlns:a16="http://schemas.microsoft.com/office/drawing/2014/main" id="{B4AB63AA-4EA4-4769-8BB7-32CBDC94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Backtest sintético · meta de 5% não atingida</a:t>
            </a:r>
          </a:p>
        </p:txBody>
      </p:sp>
      <p:sp>
        <p:nvSpPr>
          <p:cNvPr id="1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50B3E65A-5C17-4548-A2FB-B36D309D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12936928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6">
            <a:extLst xmlns:a="http://schemas.openxmlformats.org/drawingml/2006/main">
              <a:ext uri="{FF2B5EF4-FFF2-40B4-BE49-F238E27FC236}">
                <a16:creationId xmlns:a16="http://schemas.microsoft.com/office/drawing/2014/main" id="{659F945D-A006-43A3-AB1A-75F5D7E4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RESPOSTA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0B509CEE-2A28-444C-B744-1F7E6C3F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5492D9AD-FB96-4C42-8E81-83EF7CDA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Cada previsão vem com contexto</a:t>
            </a:r>
          </a:p>
        </p:txBody>
      </p:sp>
      <p:sp>
        <p:nvSpPr>
          <p:cNvPr id="4" name="subtitle-6">
            <a:extLst xmlns:a="http://schemas.openxmlformats.org/drawingml/2006/main">
              <a:ext uri="{FF2B5EF4-FFF2-40B4-BE49-F238E27FC236}">
                <a16:creationId xmlns:a16="http://schemas.microsoft.com/office/drawing/2014/main" id="{B93B64D3-FB90-4719-855E-5414F94A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O sistema mostra valor esperado, faixa e confiança.</a:t>
            </a:r>
          </a:p>
        </p:txBody>
      </p:sp>
      <p:cxnSp>
        <p:nvCxnSpPr>
          <p:cNvPr id="51" name="header-rule-6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coverage-panel">
            <a:extLst xmlns:a="http://schemas.openxmlformats.org/drawingml/2006/main">
              <a:ext uri="{FF2B5EF4-FFF2-40B4-BE49-F238E27FC236}">
                <a16:creationId xmlns:a16="http://schemas.microsoft.com/office/drawing/2014/main" id="{EC299AF2-E080-435B-A00E-BD55179F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42291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DF3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age-value">
            <a:extLst xmlns:a="http://schemas.openxmlformats.org/drawingml/2006/main">
              <a:ext uri="{FF2B5EF4-FFF2-40B4-BE49-F238E27FC236}">
                <a16:creationId xmlns:a16="http://schemas.microsoft.com/office/drawing/2014/main" id="{D6CF3F07-787A-47F9-9146-0C2605BF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3695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77–82%</a:t>
            </a:r>
          </a:p>
        </p:txBody>
      </p:sp>
      <p:sp>
        <p:nvSpPr>
          <p:cNvPr id="8" name="coverage-label">
            <a:extLst xmlns:a="http://schemas.openxmlformats.org/drawingml/2006/main">
              <a:ext uri="{FF2B5EF4-FFF2-40B4-BE49-F238E27FC236}">
                <a16:creationId xmlns:a16="http://schemas.microsoft.com/office/drawing/2014/main" id="{C58CB391-84C5-4855-8331-BB1F00EE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86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cobertura observada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das faixas previstas</a:t>
            </a:r>
          </a:p>
        </p:txBody>
      </p:sp>
      <p:sp>
        <p:nvSpPr>
          <p:cNvPr id="9" name="calibration-panel">
            <a:extLst xmlns:a="http://schemas.openxmlformats.org/drawingml/2006/main">
              <a:ext uri="{FF2B5EF4-FFF2-40B4-BE49-F238E27FC236}">
                <a16:creationId xmlns:a16="http://schemas.microsoft.com/office/drawing/2014/main" id="{A53F84A9-C583-45A2-A10D-ED2808C1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43300"/>
            <a:ext cx="42291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libration-value">
            <a:extLst xmlns:a="http://schemas.openxmlformats.org/drawingml/2006/main">
              <a:ext uri="{FF2B5EF4-FFF2-40B4-BE49-F238E27FC236}">
                <a16:creationId xmlns:a16="http://schemas.microsoft.com/office/drawing/2014/main" id="{35C904CA-1018-4383-AC1B-D5DF900E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943350"/>
            <a:ext cx="3695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4 modelos</a:t>
            </a:r>
          </a:p>
        </p:txBody>
      </p:sp>
      <p:sp>
        <p:nvSpPr>
          <p:cNvPr id="11" name="calibration-label">
            <a:extLst xmlns:a="http://schemas.openxmlformats.org/drawingml/2006/main">
              <a:ext uri="{FF2B5EF4-FFF2-40B4-BE49-F238E27FC236}">
                <a16:creationId xmlns:a16="http://schemas.microsoft.com/office/drawing/2014/main" id="{9808A3DB-6589-4E66-82B5-8ACE9437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86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de risco passaram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por calibração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1025bdd9249f6"/>
          <a:srcRect xmlns:a="http://schemas.openxmlformats.org/drawingml/2006/main" l="0" t="13675" r="0" b="13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905500"/>
            <a:ext cx="8915400" cy="485775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13" name="uncertainty-caption">
            <a:extLst xmlns:a="http://schemas.openxmlformats.org/drawingml/2006/main">
              <a:ext uri="{FF2B5EF4-FFF2-40B4-BE49-F238E27FC236}">
                <a16:creationId xmlns:a16="http://schemas.microsoft.com/office/drawing/2014/main" id="{27BF9B8F-FE17-46E5-A26F-BC14C8E9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125200"/>
            <a:ext cx="891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Não é só um número: é um número com contexto.</a:t>
            </a:r>
          </a:p>
        </p:txBody>
      </p:sp>
      <p:cxnSp>
        <p:nvCxnSpPr>
          <p:cNvPr id="60" name="footer-rule-6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5" name="footer-6">
            <a:extLst xmlns:a="http://schemas.openxmlformats.org/drawingml/2006/main">
              <a:ext uri="{FF2B5EF4-FFF2-40B4-BE49-F238E27FC236}">
                <a16:creationId xmlns:a16="http://schemas.microsoft.com/office/drawing/2014/main" id="{4C805FD8-4599-4ADF-B429-241AE781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1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2013CB81-4EEF-4A4F-908A-E38429DD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5/9</a:t>
            </a:r>
          </a:p>
        </p:txBody>
      </p:sp>
    </p:spTree>
    <p:extLst>
      <p:ext uri="{BB962C8B-B14F-4D97-AF65-F5344CB8AC3E}">
        <p14:creationId xmlns:p14="http://schemas.microsoft.com/office/powerpoint/2010/main" val="9980342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7">
            <a:extLst xmlns:a="http://schemas.openxmlformats.org/drawingml/2006/main">
              <a:ext uri="{FF2B5EF4-FFF2-40B4-BE49-F238E27FC236}">
                <a16:creationId xmlns:a16="http://schemas.microsoft.com/office/drawing/2014/main" id="{7DD2BC6F-D214-4CBA-88EC-599B1C28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 GUARDRAIL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6A092EF0-99DD-4B9B-AA19-12622A4E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B63F41E9-DCD1-4F71-9BF9-B1341380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Quando não sabe, o sistema recusa</a:t>
            </a:r>
          </a:p>
        </p:txBody>
      </p:sp>
      <p:sp>
        <p:nvSpPr>
          <p:cNvPr id="4" name="subtitle-7">
            <a:extLst xmlns:a="http://schemas.openxmlformats.org/drawingml/2006/main">
              <a:ext uri="{FF2B5EF4-FFF2-40B4-BE49-F238E27FC236}">
                <a16:creationId xmlns:a16="http://schemas.microsoft.com/office/drawing/2014/main" id="{301F72D8-C84C-47AE-B5A3-54F74CA2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Nenhuma recomendação sai fora dos limites definidos.</a:t>
            </a:r>
          </a:p>
        </p:txBody>
      </p:sp>
      <p:cxnSp>
        <p:nvCxnSpPr>
          <p:cNvPr id="51" name="header-rule-7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scenario-stat-0">
            <a:extLst xmlns:a="http://schemas.openxmlformats.org/drawingml/2006/main">
              <a:ext uri="{FF2B5EF4-FFF2-40B4-BE49-F238E27FC236}">
                <a16:creationId xmlns:a16="http://schemas.microsoft.com/office/drawing/2014/main" id="{3874855A-F37C-4BE5-91CD-BFB684E4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scenario-label-0">
            <a:extLst xmlns:a="http://schemas.openxmlformats.org/drawingml/2006/main">
              <a:ext uri="{FF2B5EF4-FFF2-40B4-BE49-F238E27FC236}">
                <a16:creationId xmlns:a16="http://schemas.microsoft.com/office/drawing/2014/main" id="{4B60A1AD-6086-4D18-AA3A-BF02DED9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cenários aprovados</a:t>
            </a:r>
          </a:p>
        </p:txBody>
      </p:sp>
      <p:sp>
        <p:nvSpPr>
          <p:cNvPr id="8" name="scenario-stat-1">
            <a:extLst xmlns:a="http://schemas.openxmlformats.org/drawingml/2006/main">
              <a:ext uri="{FF2B5EF4-FFF2-40B4-BE49-F238E27FC236}">
                <a16:creationId xmlns:a16="http://schemas.microsoft.com/office/drawing/2014/main" id="{5D22E322-4953-4C2D-91E9-4402904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9" name="scenario-label-1">
            <a:extLst xmlns:a="http://schemas.openxmlformats.org/drawingml/2006/main">
              <a:ext uri="{FF2B5EF4-FFF2-40B4-BE49-F238E27FC236}">
                <a16:creationId xmlns:a16="http://schemas.microsoft.com/office/drawing/2014/main" id="{E033F261-4F50-4440-B9EC-5106D37A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regras obrigatórias</a:t>
            </a:r>
          </a:p>
        </p:txBody>
      </p:sp>
      <p:sp>
        <p:nvSpPr>
          <p:cNvPr id="10" name="scenario-stat-2">
            <a:extLst xmlns:a="http://schemas.openxmlformats.org/drawingml/2006/main">
              <a:ext uri="{FF2B5EF4-FFF2-40B4-BE49-F238E27FC236}">
                <a16:creationId xmlns:a16="http://schemas.microsoft.com/office/drawing/2014/main" id="{7DD40CCC-8CAC-4B1A-A91B-89AD34FD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55B6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55B68"/>
                </a:solidFill>
                <a:latin typeface="Arial"/>
                <a:ea typeface="Arial"/>
                <a:cs typeface="Arial"/>
              </a:rPr>
              <a:t>3/3</a:t>
            </a:r>
          </a:p>
        </p:txBody>
      </p:sp>
      <p:sp>
        <p:nvSpPr>
          <p:cNvPr id="11" name="scenario-label-2">
            <a:extLst xmlns:a="http://schemas.openxmlformats.org/drawingml/2006/main">
              <a:ext uri="{FF2B5EF4-FFF2-40B4-BE49-F238E27FC236}">
                <a16:creationId xmlns:a16="http://schemas.microsoft.com/office/drawing/2014/main" id="{A76B89E4-D43B-41CE-8CB1-6E6DA87F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casos fora do padrão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recusados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21a78ae5704727"/>
          <a:srcRect xmlns:a="http://schemas.openxmlformats.org/drawingml/2006/main" l="0" t="10114" r="0" b="10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219700"/>
            <a:ext cx="8915400" cy="5334000"/>
          </a:xfrm>
          <a:prstGeom xmlns:a="http://schemas.openxmlformats.org/drawingml/2006/main" prst="roundRect">
            <a:avLst>
              <a:gd name="adj" fmla="val 2143"/>
            </a:avLst>
          </a:prstGeom>
        </p:spPr>
      </p:pic>
      <p:sp>
        <p:nvSpPr>
          <p:cNvPr id="13" name="scenario-close">
            <a:extLst xmlns:a="http://schemas.openxmlformats.org/drawingml/2006/main">
              <a:ext uri="{FF2B5EF4-FFF2-40B4-BE49-F238E27FC236}">
                <a16:creationId xmlns:a16="http://schemas.microsoft.com/office/drawing/2014/main" id="{77D68B23-F225-4FB9-AD55-5D8FE637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0"/>
            <a:ext cx="8915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Depois disso: compare alternativas e peça revisão humana.</a:t>
            </a:r>
          </a:p>
        </p:txBody>
      </p:sp>
      <p:cxnSp>
        <p:nvCxnSpPr>
          <p:cNvPr id="60" name="footer-rule-7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5" name="footer-7">
            <a:extLst xmlns:a="http://schemas.openxmlformats.org/drawingml/2006/main">
              <a:ext uri="{FF2B5EF4-FFF2-40B4-BE49-F238E27FC236}">
                <a16:creationId xmlns:a16="http://schemas.microsoft.com/office/drawing/2014/main" id="{879FB160-5E7C-4A0A-BE16-8BA84408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1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6CA91ED8-7E0E-433D-9AFA-55771DA2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6/9</a:t>
            </a:r>
          </a:p>
        </p:txBody>
      </p:sp>
    </p:spTree>
    <p:extLst>
      <p:ext uri="{BB962C8B-B14F-4D97-AF65-F5344CB8AC3E}">
        <p14:creationId xmlns:p14="http://schemas.microsoft.com/office/powerpoint/2010/main" val="6798120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8">
            <a:extLst xmlns:a="http://schemas.openxmlformats.org/drawingml/2006/main">
              <a:ext uri="{FF2B5EF4-FFF2-40B4-BE49-F238E27FC236}">
                <a16:creationId xmlns:a16="http://schemas.microsoft.com/office/drawing/2014/main" id="{13323388-F758-47C3-802D-1ACEDC76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EXPERIÊNCIA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085CC0FB-9DA9-4DB1-948A-14D31DFD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8EAD528E-F504-44D4-97EC-A4ED4177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Uma trilha simples até a decisão</a:t>
            </a:r>
          </a:p>
        </p:txBody>
      </p:sp>
      <p:sp>
        <p:nvSpPr>
          <p:cNvPr id="4" name="subtitle-8">
            <a:extLst xmlns:a="http://schemas.openxmlformats.org/drawingml/2006/main">
              <a:ext uri="{FF2B5EF4-FFF2-40B4-BE49-F238E27FC236}">
                <a16:creationId xmlns:a16="http://schemas.microsoft.com/office/drawing/2014/main" id="{8F1FE70D-04EE-4DA5-B441-1A4F36CD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Entender → prever → comparar → decidir.</a:t>
            </a:r>
          </a:p>
        </p:txBody>
      </p:sp>
      <p:cxnSp>
        <p:nvCxnSpPr>
          <p:cNvPr id="78" name="header-rule-8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product-index-0">
            <a:extLst xmlns:a="http://schemas.openxmlformats.org/drawingml/2006/main">
              <a:ext uri="{FF2B5EF4-FFF2-40B4-BE49-F238E27FC236}">
                <a16:creationId xmlns:a16="http://schemas.microsoft.com/office/drawing/2014/main" id="{8C5E6F41-3061-44E2-A958-2141A1F6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roduct-page-0">
            <a:extLst xmlns:a="http://schemas.openxmlformats.org/drawingml/2006/main">
              <a:ext uri="{FF2B5EF4-FFF2-40B4-BE49-F238E27FC236}">
                <a16:creationId xmlns:a16="http://schemas.microsoft.com/office/drawing/2014/main" id="{E620A6BE-FC68-492B-8B95-69CA27A7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861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Visão geral</a:t>
            </a:r>
          </a:p>
        </p:txBody>
      </p:sp>
      <p:cxnSp>
        <p:nvCxnSpPr>
          <p:cNvPr id="81" name="product-rule-0"/>
          <p:cNvCxnSpPr/>
          <p:nvPr/>
        </p:nvCxnSpPr>
        <p:spPr>
          <a:xfrm xmlns:a="http://schemas.openxmlformats.org/drawingml/2006/main">
            <a:off x="1485900" y="41338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9" name="product-index-1">
            <a:extLst xmlns:a="http://schemas.openxmlformats.org/drawingml/2006/main">
              <a:ext uri="{FF2B5EF4-FFF2-40B4-BE49-F238E27FC236}">
                <a16:creationId xmlns:a16="http://schemas.microsoft.com/office/drawing/2014/main" id="{EBF830FF-E4DE-4E0C-9072-A52B69F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roduct-page-1">
            <a:extLst xmlns:a="http://schemas.openxmlformats.org/drawingml/2006/main">
              <a:ext uri="{FF2B5EF4-FFF2-40B4-BE49-F238E27FC236}">
                <a16:creationId xmlns:a16="http://schemas.microsoft.com/office/drawing/2014/main" id="{BC167A51-2493-4275-B03A-235C4AA6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5529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O que influenciou</a:t>
            </a:r>
          </a:p>
        </p:txBody>
      </p:sp>
      <p:cxnSp>
        <p:nvCxnSpPr>
          <p:cNvPr id="84" name="product-rule-1"/>
          <p:cNvCxnSpPr/>
          <p:nvPr/>
        </p:nvCxnSpPr>
        <p:spPr>
          <a:xfrm xmlns:a="http://schemas.openxmlformats.org/drawingml/2006/main">
            <a:off x="1485900" y="52006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2" name="product-index-2">
            <a:extLst xmlns:a="http://schemas.openxmlformats.org/drawingml/2006/main">
              <a:ext uri="{FF2B5EF4-FFF2-40B4-BE49-F238E27FC236}">
                <a16:creationId xmlns:a16="http://schemas.microsoft.com/office/drawing/2014/main" id="{32B4761E-026D-488B-9A42-FCE986DB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product-page-2">
            <a:extLst xmlns:a="http://schemas.openxmlformats.org/drawingml/2006/main">
              <a:ext uri="{FF2B5EF4-FFF2-40B4-BE49-F238E27FC236}">
                <a16:creationId xmlns:a16="http://schemas.microsoft.com/office/drawing/2014/main" id="{DAA49201-0452-461D-8554-51B5EC01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6197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Previsão e risco</a:t>
            </a:r>
          </a:p>
        </p:txBody>
      </p:sp>
      <p:cxnSp>
        <p:nvCxnSpPr>
          <p:cNvPr id="87" name="product-rule-2"/>
          <p:cNvCxnSpPr/>
          <p:nvPr/>
        </p:nvCxnSpPr>
        <p:spPr>
          <a:xfrm xmlns:a="http://schemas.openxmlformats.org/drawingml/2006/main">
            <a:off x="1485900" y="62674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5" name="product-index-3">
            <a:extLst xmlns:a="http://schemas.openxmlformats.org/drawingml/2006/main">
              <a:ext uri="{FF2B5EF4-FFF2-40B4-BE49-F238E27FC236}">
                <a16:creationId xmlns:a16="http://schemas.microsoft.com/office/drawing/2014/main" id="{00D96976-D4CC-4D65-B420-80FBC025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437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product-page-3">
            <a:extLst xmlns:a="http://schemas.openxmlformats.org/drawingml/2006/main">
              <a:ext uri="{FF2B5EF4-FFF2-40B4-BE49-F238E27FC236}">
                <a16:creationId xmlns:a16="http://schemas.microsoft.com/office/drawing/2014/main" id="{568E5AE2-EE32-436A-88F0-35FA6D0A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6865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Teste de cenários</a:t>
            </a:r>
          </a:p>
        </p:txBody>
      </p:sp>
      <p:cxnSp>
        <p:nvCxnSpPr>
          <p:cNvPr id="90" name="product-rule-3"/>
          <p:cNvCxnSpPr/>
          <p:nvPr/>
        </p:nvCxnSpPr>
        <p:spPr>
          <a:xfrm xmlns:a="http://schemas.openxmlformats.org/drawingml/2006/main">
            <a:off x="1485900" y="73342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8" name="product-index-4">
            <a:extLst xmlns:a="http://schemas.openxmlformats.org/drawingml/2006/main">
              <a:ext uri="{FF2B5EF4-FFF2-40B4-BE49-F238E27FC236}">
                <a16:creationId xmlns:a16="http://schemas.microsoft.com/office/drawing/2014/main" id="{24741B3C-62D6-4B77-99E1-12FB6F7A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product-page-4">
            <a:extLst xmlns:a="http://schemas.openxmlformats.org/drawingml/2006/main">
              <a:ext uri="{FF2B5EF4-FFF2-40B4-BE49-F238E27FC236}">
                <a16:creationId xmlns:a16="http://schemas.microsoft.com/office/drawing/2014/main" id="{F17CF344-F140-4841-BCBF-3E810813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77533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Confiabilidade do modelo</a:t>
            </a:r>
          </a:p>
        </p:txBody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6a32e8c5c4e9a"/>
          <a:srcRect xmlns:a="http://schemas.openxmlformats.org/drawingml/2006/main" l="23462" t="0" r="2346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19700" y="3543300"/>
            <a:ext cx="4381500" cy="6191250"/>
          </a:xfrm>
          <a:prstGeom xmlns:a="http://schemas.openxmlformats.org/drawingml/2006/main" prst="roundRect">
            <a:avLst>
              <a:gd name="adj" fmla="val 2609"/>
            </a:avLst>
          </a:prstGeom>
        </p:spPr>
      </p:pic>
      <p:sp>
        <p:nvSpPr>
          <p:cNvPr id="21" name="product-powerbi">
            <a:extLst xmlns:a="http://schemas.openxmlformats.org/drawingml/2006/main">
              <a:ext uri="{FF2B5EF4-FFF2-40B4-BE49-F238E27FC236}">
                <a16:creationId xmlns:a16="http://schemas.microsoft.com/office/drawing/2014/main" id="{801DA8E9-9406-4FF1-A04E-0239F4D8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8298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9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EXPLORAÇÃO ADICIONAL</a:t>
            </a:r>
          </a:p>
        </p:txBody>
      </p:sp>
      <p:sp>
        <p:nvSpPr>
          <p:cNvPr id="22" name="product-powerbi-proof">
            <a:extLst xmlns:a="http://schemas.openxmlformats.org/drawingml/2006/main">
              <a:ext uri="{FF2B5EF4-FFF2-40B4-BE49-F238E27FC236}">
                <a16:creationId xmlns:a16="http://schemas.microsoft.com/office/drawing/2014/main" id="{3DFFE398-2209-4AD2-BFFA-486F337B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48900"/>
            <a:ext cx="8915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Power BI com modelo estrela e arquivos verificados</a:t>
            </a:r>
          </a:p>
        </p:txBody>
      </p:sp>
      <p:cxnSp>
        <p:nvCxnSpPr>
          <p:cNvPr id="96" name="footer-rule-8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24" name="footer-8">
            <a:extLst xmlns:a="http://schemas.openxmlformats.org/drawingml/2006/main">
              <a:ext uri="{FF2B5EF4-FFF2-40B4-BE49-F238E27FC236}">
                <a16:creationId xmlns:a16="http://schemas.microsoft.com/office/drawing/2014/main" id="{485BCCDE-FD69-4E4E-A7AC-C795AFD6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360922B6-36BE-4A83-BCFF-361D755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2298386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9">
            <a:extLst xmlns:a="http://schemas.openxmlformats.org/drawingml/2006/main">
              <a:ext uri="{FF2B5EF4-FFF2-40B4-BE49-F238E27FC236}">
                <a16:creationId xmlns:a16="http://schemas.microsoft.com/office/drawing/2014/main" id="{EC1D63BC-BDD9-4416-8BB8-5466FAC6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LIMITES</a:t>
            </a:r>
          </a:p>
        </p:txBody>
      </p:sp>
      <p:sp>
        <p:nvSpPr>
          <p:cNvPr id="2" name="page-9">
            <a:extLst xmlns:a="http://schemas.openxmlformats.org/drawingml/2006/main">
              <a:ext uri="{FF2B5EF4-FFF2-40B4-BE49-F238E27FC236}">
                <a16:creationId xmlns:a16="http://schemas.microsoft.com/office/drawing/2014/main" id="{52C7C719-083C-456E-A679-9B010E65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0B318391-4DB9-4666-8D12-A3705990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Limites claros evitam promessas</a:t>
            </a:r>
          </a:p>
        </p:txBody>
      </p:sp>
      <p:sp>
        <p:nvSpPr>
          <p:cNvPr id="4" name="subtitle-9">
            <a:extLst xmlns:a="http://schemas.openxmlformats.org/drawingml/2006/main">
              <a:ext uri="{FF2B5EF4-FFF2-40B4-BE49-F238E27FC236}">
                <a16:creationId xmlns:a16="http://schemas.microsoft.com/office/drawing/2014/main" id="{014C88DE-F3D5-4910-9C41-01E96077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O protótipo mostra o que pode — e o que não pode — afirmar.</a:t>
            </a:r>
          </a:p>
        </p:txBody>
      </p:sp>
      <p:cxnSp>
        <p:nvCxnSpPr>
          <p:cNvPr id="54" name="header-rule-9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669b2a8e3496e"/>
          <a:srcRect xmlns:a="http://schemas.openxmlformats.org/drawingml/2006/main" l="0" t="16524" r="0" b="165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486150"/>
            <a:ext cx="891540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7" name="limit-dot-0">
            <a:extLst xmlns:a="http://schemas.openxmlformats.org/drawingml/2006/main">
              <a:ext uri="{FF2B5EF4-FFF2-40B4-BE49-F238E27FC236}">
                <a16:creationId xmlns:a16="http://schemas.microsoft.com/office/drawing/2014/main" id="{1340E1E0-4F68-4279-AA85-1B686F10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48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imit-text-0">
            <a:extLst xmlns:a="http://schemas.openxmlformats.org/drawingml/2006/main">
              <a:ext uri="{FF2B5EF4-FFF2-40B4-BE49-F238E27FC236}">
                <a16:creationId xmlns:a16="http://schemas.microsoft.com/office/drawing/2014/main" id="{4891817F-5694-4578-B849-DC97F37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57250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Não demonstra causalidade industrial</a:t>
            </a:r>
          </a:p>
        </p:txBody>
      </p:sp>
      <p:sp>
        <p:nvSpPr>
          <p:cNvPr id="9" name="limit-dot-1">
            <a:extLst xmlns:a="http://schemas.openxmlformats.org/drawingml/2006/main">
              <a:ext uri="{FF2B5EF4-FFF2-40B4-BE49-F238E27FC236}">
                <a16:creationId xmlns:a16="http://schemas.microsoft.com/office/drawing/2014/main" id="{305D7822-F2DF-46D6-8BD8-6602D2DF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imit-text-1">
            <a:extLst xmlns:a="http://schemas.openxmlformats.org/drawingml/2006/main">
              <a:ext uri="{FF2B5EF4-FFF2-40B4-BE49-F238E27FC236}">
                <a16:creationId xmlns:a16="http://schemas.microsoft.com/office/drawing/2014/main" id="{D3AD3E4A-FFAB-4877-ACEA-4FBFD08E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25830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Não valida conformidade API 5CT</a:t>
            </a:r>
          </a:p>
        </p:txBody>
      </p:sp>
      <p:sp>
        <p:nvSpPr>
          <p:cNvPr id="11" name="limit-dot-2">
            <a:extLst xmlns:a="http://schemas.openxmlformats.org/drawingml/2006/main">
              <a:ext uri="{FF2B5EF4-FFF2-40B4-BE49-F238E27FC236}">
                <a16:creationId xmlns:a16="http://schemas.microsoft.com/office/drawing/2014/main" id="{FEC69F0B-C565-4EF7-8E0B-4DA1FDF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20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imit-text-2">
            <a:extLst xmlns:a="http://schemas.openxmlformats.org/drawingml/2006/main">
              <a:ext uri="{FF2B5EF4-FFF2-40B4-BE49-F238E27FC236}">
                <a16:creationId xmlns:a16="http://schemas.microsoft.com/office/drawing/2014/main" id="{D5D2BA6F-7D85-4944-B581-D00C38FE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94410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Não promete ganho financeiro</a:t>
            </a:r>
          </a:p>
        </p:txBody>
      </p:sp>
      <p:sp>
        <p:nvSpPr>
          <p:cNvPr id="13" name="limit-dot-3">
            <a:extLst xmlns:a="http://schemas.openxmlformats.org/drawingml/2006/main">
              <a:ext uri="{FF2B5EF4-FFF2-40B4-BE49-F238E27FC236}">
                <a16:creationId xmlns:a16="http://schemas.microsoft.com/office/drawing/2014/main" id="{A0501082-7F39-4E60-973E-BBAE5271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706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5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limit-text-3">
            <a:extLst xmlns:a="http://schemas.openxmlformats.org/drawingml/2006/main">
              <a:ext uri="{FF2B5EF4-FFF2-40B4-BE49-F238E27FC236}">
                <a16:creationId xmlns:a16="http://schemas.microsoft.com/office/drawing/2014/main" id="{0CB92674-1FE1-4518-AEDB-2CC9839F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62990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Não controla equipamentos</a:t>
            </a:r>
          </a:p>
        </p:txBody>
      </p:sp>
      <p:cxnSp>
        <p:nvCxnSpPr>
          <p:cNvPr id="64" name="footer-rule-9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6" name="footer-9">
            <a:extLst xmlns:a="http://schemas.openxmlformats.org/drawingml/2006/main">
              <a:ext uri="{FF2B5EF4-FFF2-40B4-BE49-F238E27FC236}">
                <a16:creationId xmlns:a16="http://schemas.microsoft.com/office/drawing/2014/main" id="{B3CB2A96-7BEA-469E-B01B-78C16A75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17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FDB705C5-6FB4-486B-8E36-FD328329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15491123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4A29BF44-3BDA-4C78-9CBD-C6046E39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891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STEELFLOW AI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584C9D75-4C20-4B03-ABCF-158C3E28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891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Quer explorar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o projeto?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B4D2B44C-B7F8-4096-840E-D7E4AEEF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Veja o código, os dados sintéticos, os testes e as telas.</a:t>
            </a:r>
          </a:p>
        </p:txBody>
      </p:sp>
      <p:cxnSp>
        <p:nvCxnSpPr>
          <p:cNvPr id="21" name="close-accent"/>
          <p:cNvCxnSpPr/>
          <p:nvPr/>
        </p:nvCxnSpPr>
        <p:spPr>
          <a:xfrm xmlns:a="http://schemas.openxmlformats.org/drawingml/2006/main">
            <a:off x="685800" y="6429375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0CDBF"/>
            </a:solidFill>
            <a:prstDash val="solid"/>
          </a:ln>
        </p:spPr>
      </p:cxnSp>
      <p:sp>
        <p:nvSpPr>
          <p:cNvPr id="5" name="close-url-label">
            <a:extLst xmlns:a="http://schemas.openxmlformats.org/drawingml/2006/main">
              <a:ext uri="{FF2B5EF4-FFF2-40B4-BE49-F238E27FC236}">
                <a16:creationId xmlns:a16="http://schemas.microsoft.com/office/drawing/2014/main" id="{D3A57EAB-876A-4CEA-ABE5-5D9BE11E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0"/>
            <a:ext cx="891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REPOSITÓRIO E DOCUMENTAÇÃO</a:t>
            </a:r>
          </a:p>
        </p:txBody>
      </p:sp>
      <p:sp>
        <p:nvSpPr>
          <p:cNvPr id="6" name="close-url">
            <a:extLst xmlns:a="http://schemas.openxmlformats.org/drawingml/2006/main">
              <a:ext uri="{FF2B5EF4-FFF2-40B4-BE49-F238E27FC236}">
                <a16:creationId xmlns:a16="http://schemas.microsoft.com/office/drawing/2014/main" id="{94A5A874-2061-4322-A504-FA6CDFB4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295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github.com/bryanleme/steelFlow-ai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8170760B-0AB7-4DE6-98EE-69BF5979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67875"/>
            <a:ext cx="857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Teste o fluxo. Questione os limites. Compartilhe o que você melhoraria.</a:t>
            </a:r>
          </a:p>
        </p:txBody>
      </p:sp>
      <p:sp>
        <p:nvSpPr>
          <p:cNvPr id="8" name="close-scope">
            <a:extLst xmlns:a="http://schemas.openxmlformats.org/drawingml/2006/main">
              <a:ext uri="{FF2B5EF4-FFF2-40B4-BE49-F238E27FC236}">
                <a16:creationId xmlns:a16="http://schemas.microsoft.com/office/drawing/2014/main" id="{44E43D55-E684-4397-9217-42A4BAE5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68125"/>
            <a:ext cx="891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Protótipo educacional · dados 100% sintéticos · sem controle de máquina</a:t>
            </a:r>
          </a:p>
        </p:txBody>
      </p:sp>
      <p:sp>
        <p:nvSpPr>
          <p:cNvPr id="9" name="close-page">
            <a:extLst xmlns:a="http://schemas.openxmlformats.org/drawingml/2006/main">
              <a:ext uri="{FF2B5EF4-FFF2-40B4-BE49-F238E27FC236}">
                <a16:creationId xmlns:a16="http://schemas.microsoft.com/office/drawing/2014/main" id="{743BA035-DA5C-42C6-9464-2A791F3A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2110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1423961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2026-08-18T20:18:17.4800000Z</dcterms:created>
  <dcterms:modified xsi:type="dcterms:W3CDTF">2026-08-18T20:18:17.4800000Z</dcterms:modified>
</coreProperties>
</file>